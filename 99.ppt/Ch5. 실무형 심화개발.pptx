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3"/>
  </p:notesMasterIdLst>
  <p:sldIdLst>
    <p:sldId id="334" r:id="rId2"/>
    <p:sldId id="256" r:id="rId3"/>
    <p:sldId id="332" r:id="rId4"/>
    <p:sldId id="315" r:id="rId5"/>
    <p:sldId id="295" r:id="rId6"/>
    <p:sldId id="316" r:id="rId7"/>
    <p:sldId id="296" r:id="rId8"/>
    <p:sldId id="317" r:id="rId9"/>
    <p:sldId id="298" r:id="rId10"/>
    <p:sldId id="319" r:id="rId11"/>
    <p:sldId id="302" r:id="rId12"/>
    <p:sldId id="322" r:id="rId13"/>
    <p:sldId id="323" r:id="rId14"/>
    <p:sldId id="303" r:id="rId15"/>
    <p:sldId id="324" r:id="rId16"/>
    <p:sldId id="325" r:id="rId17"/>
    <p:sldId id="262" r:id="rId18"/>
    <p:sldId id="330" r:id="rId19"/>
    <p:sldId id="329" r:id="rId20"/>
    <p:sldId id="331" r:id="rId21"/>
    <p:sldId id="328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ADE"/>
    <a:srgbClr val="008000"/>
    <a:srgbClr val="996633"/>
    <a:srgbClr val="0033CC"/>
    <a:srgbClr val="FF0000"/>
    <a:srgbClr val="ED4D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8182" autoAdjust="0"/>
  </p:normalViewPr>
  <p:slideViewPr>
    <p:cSldViewPr snapToGrid="0" showGuides="1">
      <p:cViewPr varScale="1">
        <p:scale>
          <a:sx n="109" d="100"/>
          <a:sy n="109" d="100"/>
        </p:scale>
        <p:origin x="1572" y="102"/>
      </p:cViewPr>
      <p:guideLst>
        <p:guide orient="horz" pos="125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70909-2C76-4DF9-BB76-4EE283593418}" type="datetimeFigureOut">
              <a:rPr lang="ko-KR" altLang="en-US" smtClean="0"/>
              <a:t>2024-10-26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43B46-72FF-4656-838A-691B9EB32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4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지난시간까지 저희는 </a:t>
            </a:r>
            <a:r>
              <a:rPr lang="en-US" altLang="ko-KR" dirty="0"/>
              <a:t>Async Non-Block IO </a:t>
            </a:r>
            <a:r>
              <a:rPr lang="ko-KR" altLang="en-US" dirty="0"/>
              <a:t>기반의 </a:t>
            </a:r>
            <a:r>
              <a:rPr lang="en-US" altLang="ko-KR" dirty="0"/>
              <a:t>reactive </a:t>
            </a:r>
            <a:r>
              <a:rPr lang="ko-KR" altLang="en-US" dirty="0"/>
              <a:t>서버인 </a:t>
            </a:r>
            <a:r>
              <a:rPr lang="en-US" altLang="ko-KR" dirty="0" err="1"/>
              <a:t>Webflux</a:t>
            </a:r>
            <a:r>
              <a:rPr lang="en-US" altLang="ko-KR" dirty="0"/>
              <a:t> </a:t>
            </a:r>
            <a:r>
              <a:rPr lang="ko-KR" altLang="en-US" dirty="0"/>
              <a:t>가</a:t>
            </a:r>
            <a:r>
              <a:rPr lang="en-US" altLang="ko-KR" dirty="0"/>
              <a:t>,</a:t>
            </a:r>
            <a:r>
              <a:rPr lang="ko-KR" altLang="en-US" dirty="0"/>
              <a:t> 왜 </a:t>
            </a:r>
            <a:r>
              <a:rPr lang="ko-KR" altLang="en-US" dirty="0" err="1"/>
              <a:t>빠른지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Coroutine </a:t>
            </a:r>
            <a:r>
              <a:rPr lang="ko-KR" altLang="en-US" dirty="0"/>
              <a:t>으로 어떻게 구현해야 하는지</a:t>
            </a:r>
            <a:r>
              <a:rPr lang="en-US" altLang="ko-KR" dirty="0"/>
              <a:t>, </a:t>
            </a:r>
            <a:r>
              <a:rPr lang="ko-KR" altLang="en-US" dirty="0"/>
              <a:t>마지막으로 성능은 정말 잘 나오는지</a:t>
            </a:r>
            <a:r>
              <a:rPr lang="en-US" altLang="ko-KR" dirty="0"/>
              <a:t> </a:t>
            </a:r>
            <a:r>
              <a:rPr lang="ko-KR" altLang="en-US" dirty="0"/>
              <a:t>등을 확인해 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오늘은 현장중심 커리큘럼으로 과정이 진행될 예정이며</a:t>
            </a:r>
            <a:r>
              <a:rPr lang="en-US" altLang="ko-KR" dirty="0"/>
              <a:t>, </a:t>
            </a:r>
            <a:r>
              <a:rPr lang="ko-KR" altLang="en-US" dirty="0"/>
              <a:t>그 첫번째</a:t>
            </a:r>
            <a:r>
              <a:rPr lang="en-US" altLang="ko-KR" dirty="0"/>
              <a:t>, </a:t>
            </a:r>
            <a:r>
              <a:rPr lang="ko-KR" altLang="en-US" dirty="0"/>
              <a:t>실무형 심화개발 과정입니다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저희가 구현했던 </a:t>
            </a:r>
            <a:r>
              <a:rPr lang="ko-KR" altLang="en-US" dirty="0" err="1"/>
              <a:t>코루틴</a:t>
            </a:r>
            <a:r>
              <a:rPr lang="ko-KR" altLang="en-US" dirty="0"/>
              <a:t> 기반의 </a:t>
            </a:r>
            <a:r>
              <a:rPr lang="en-US" altLang="ko-KR" dirty="0" err="1"/>
              <a:t>Webflux</a:t>
            </a:r>
            <a:r>
              <a:rPr lang="en-US" altLang="ko-KR" dirty="0"/>
              <a:t> </a:t>
            </a:r>
            <a:r>
              <a:rPr lang="ko-KR" altLang="en-US" dirty="0"/>
              <a:t>어플리케이션 뼈대 위에</a:t>
            </a:r>
            <a:r>
              <a:rPr lang="en-US" altLang="ko-KR" dirty="0"/>
              <a:t>, </a:t>
            </a:r>
            <a:r>
              <a:rPr lang="ko-KR" altLang="en-US" dirty="0"/>
              <a:t>운영에 필요한 필수 </a:t>
            </a:r>
            <a:r>
              <a:rPr lang="ko-KR" altLang="en-US" dirty="0" err="1"/>
              <a:t>컴퍼넌트를</a:t>
            </a:r>
            <a:r>
              <a:rPr lang="ko-KR" altLang="en-US" dirty="0"/>
              <a:t> 붙여가면서</a:t>
            </a:r>
            <a:r>
              <a:rPr lang="en-US" altLang="ko-KR" dirty="0"/>
              <a:t>, </a:t>
            </a:r>
            <a:r>
              <a:rPr lang="ko-KR" altLang="en-US" dirty="0"/>
              <a:t>이 뼈대를 실무에 적용할 수 있는 수준으로 끌어올려 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사용자 요청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request </a:t>
            </a:r>
            <a:r>
              <a:rPr lang="ko-KR" altLang="en-US" dirty="0"/>
              <a:t>는 처리되면서 다양한 로그를 남깁니다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</a:t>
            </a:r>
            <a:r>
              <a:rPr lang="en-US" altLang="ko-KR" dirty="0"/>
              <a:t>, </a:t>
            </a:r>
            <a:r>
              <a:rPr lang="ko-KR" altLang="en-US" dirty="0"/>
              <a:t>서버는 수많은 사용자의 </a:t>
            </a:r>
            <a:r>
              <a:rPr lang="en-US" altLang="ko-KR" dirty="0"/>
              <a:t>request </a:t>
            </a:r>
            <a:r>
              <a:rPr lang="ko-KR" altLang="en-US" dirty="0"/>
              <a:t>를 동시에 처리하기 때문에</a:t>
            </a:r>
            <a:r>
              <a:rPr lang="en-US" altLang="ko-KR" dirty="0"/>
              <a:t>, </a:t>
            </a:r>
            <a:r>
              <a:rPr lang="ko-KR" altLang="en-US" dirty="0"/>
              <a:t>이 로그는 요청 순서가 뒤죽박죽 섞여서 기록됩니다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</a:t>
            </a:r>
            <a:r>
              <a:rPr lang="en-US" altLang="ko-KR" dirty="0"/>
              <a:t>, </a:t>
            </a:r>
            <a:r>
              <a:rPr lang="ko-KR" altLang="en-US" dirty="0"/>
              <a:t>운영시에는 반드시 오류가 발생하고요</a:t>
            </a:r>
            <a:r>
              <a:rPr lang="en-US" altLang="ko-KR" dirty="0"/>
              <a:t>. </a:t>
            </a:r>
            <a:r>
              <a:rPr lang="ko-KR" altLang="en-US" dirty="0"/>
              <a:t>이 오류를 진단하기 위해서는</a:t>
            </a:r>
            <a:r>
              <a:rPr lang="en-US" altLang="ko-KR" dirty="0"/>
              <a:t>, </a:t>
            </a:r>
            <a:r>
              <a:rPr lang="ko-KR" altLang="en-US" dirty="0"/>
              <a:t>로그 덩어리에서 특정 시간의 특정 </a:t>
            </a:r>
            <a:r>
              <a:rPr lang="en-US" altLang="ko-KR" dirty="0"/>
              <a:t>request </a:t>
            </a:r>
            <a:r>
              <a:rPr lang="ko-KR" altLang="en-US" dirty="0"/>
              <a:t>만 필터링해서 확인할 수 있어야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이를 위해</a:t>
            </a:r>
            <a:r>
              <a:rPr lang="en-US" altLang="ko-KR" dirty="0"/>
              <a:t>, request</a:t>
            </a:r>
            <a:r>
              <a:rPr lang="ko-KR" altLang="en-US" dirty="0"/>
              <a:t> 마다 고유한 </a:t>
            </a:r>
            <a:r>
              <a:rPr lang="en-US" altLang="ko-KR" dirty="0"/>
              <a:t>ID </a:t>
            </a:r>
            <a:r>
              <a:rPr lang="ko-KR" altLang="en-US" dirty="0"/>
              <a:t>를 부여하고</a:t>
            </a:r>
            <a:r>
              <a:rPr lang="en-US" altLang="ko-KR" dirty="0"/>
              <a:t>, </a:t>
            </a:r>
            <a:r>
              <a:rPr lang="ko-KR" altLang="en-US" dirty="0"/>
              <a:t>출력로그마다 이 고유한 </a:t>
            </a:r>
            <a:r>
              <a:rPr lang="en-US" altLang="ko-KR" dirty="0"/>
              <a:t>ID</a:t>
            </a:r>
            <a:r>
              <a:rPr lang="ko-KR" altLang="en-US" dirty="0"/>
              <a:t>를 포함시킵니다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666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</a:t>
            </a:r>
            <a:r>
              <a:rPr lang="en-US" altLang="ko-KR" dirty="0"/>
              <a:t>request </a:t>
            </a:r>
            <a:r>
              <a:rPr lang="ko-KR" altLang="en-US" dirty="0"/>
              <a:t>를 식별하기 위한 고유</a:t>
            </a:r>
            <a:r>
              <a:rPr lang="en-US" altLang="ko-KR" dirty="0"/>
              <a:t>ID</a:t>
            </a:r>
            <a:r>
              <a:rPr lang="ko-KR" altLang="en-US" dirty="0"/>
              <a:t>로 </a:t>
            </a:r>
            <a:r>
              <a:rPr lang="en-US" altLang="ko-KR" dirty="0"/>
              <a:t>UUID </a:t>
            </a:r>
            <a:r>
              <a:rPr lang="ko-KR" altLang="en-US" dirty="0"/>
              <a:t>를 사용할 예정입니다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UUID</a:t>
            </a:r>
            <a:r>
              <a:rPr lang="ko-KR" altLang="en-US" dirty="0"/>
              <a:t>는 </a:t>
            </a:r>
            <a:r>
              <a:rPr lang="en-US" altLang="ko-KR" dirty="0"/>
              <a:t>Universal Unique </a:t>
            </a:r>
            <a:r>
              <a:rPr lang="en-US" altLang="ko-KR" dirty="0" err="1"/>
              <a:t>IDentifier</a:t>
            </a:r>
            <a:r>
              <a:rPr lang="en-US" altLang="ko-KR" dirty="0"/>
              <a:t> </a:t>
            </a:r>
            <a:r>
              <a:rPr lang="ko-KR" altLang="en-US" dirty="0"/>
              <a:t>의 약자로</a:t>
            </a:r>
            <a:r>
              <a:rPr lang="en-US" altLang="ko-KR" dirty="0"/>
              <a:t>, </a:t>
            </a:r>
            <a:r>
              <a:rPr lang="ko-KR" altLang="en-US" dirty="0"/>
              <a:t>어느 곳에서도 고유한 </a:t>
            </a:r>
            <a:r>
              <a:rPr lang="en-US" altLang="ko-KR" dirty="0"/>
              <a:t>ID </a:t>
            </a:r>
            <a:r>
              <a:rPr lang="ko-KR" altLang="en-US" dirty="0"/>
              <a:t>라는 뜻입니다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8</a:t>
            </a:r>
            <a:r>
              <a:rPr lang="ko-KR" altLang="en-US" dirty="0"/>
              <a:t>자 </a:t>
            </a:r>
            <a:r>
              <a:rPr lang="en-US" altLang="ko-KR" dirty="0"/>
              <a:t>– 4</a:t>
            </a:r>
            <a:r>
              <a:rPr lang="ko-KR" altLang="en-US" dirty="0"/>
              <a:t>자 </a:t>
            </a:r>
            <a:r>
              <a:rPr lang="en-US" altLang="ko-KR" dirty="0"/>
              <a:t>– 4</a:t>
            </a:r>
            <a:r>
              <a:rPr lang="ko-KR" altLang="en-US" dirty="0"/>
              <a:t>자 </a:t>
            </a:r>
            <a:r>
              <a:rPr lang="en-US" altLang="ko-KR" dirty="0"/>
              <a:t>– 4</a:t>
            </a:r>
            <a:r>
              <a:rPr lang="ko-KR" altLang="en-US" dirty="0"/>
              <a:t>자 </a:t>
            </a:r>
            <a:r>
              <a:rPr lang="en-US" altLang="ko-KR" dirty="0"/>
              <a:t>- 12</a:t>
            </a:r>
            <a:r>
              <a:rPr lang="ko-KR" altLang="en-US" dirty="0"/>
              <a:t>자 </a:t>
            </a:r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32</a:t>
            </a:r>
            <a:r>
              <a:rPr lang="ko-KR" altLang="en-US" dirty="0"/>
              <a:t>자의 포맷으로 구성되어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UUID</a:t>
            </a:r>
            <a:r>
              <a:rPr lang="ko-KR" altLang="en-US" dirty="0"/>
              <a:t> 는 </a:t>
            </a:r>
            <a:r>
              <a:rPr lang="en-US" altLang="ko-KR" dirty="0"/>
              <a:t>version 5 </a:t>
            </a:r>
            <a:r>
              <a:rPr lang="ko-KR" altLang="en-US" dirty="0"/>
              <a:t>까지 있는데</a:t>
            </a:r>
            <a:r>
              <a:rPr lang="en-US" altLang="ko-KR" dirty="0"/>
              <a:t>, </a:t>
            </a:r>
            <a:r>
              <a:rPr lang="ko-KR" altLang="en-US" dirty="0"/>
              <a:t>저희는 </a:t>
            </a:r>
            <a:r>
              <a:rPr lang="en-US" altLang="ko-KR" dirty="0"/>
              <a:t>Java </a:t>
            </a:r>
            <a:r>
              <a:rPr lang="ko-KR" altLang="en-US" dirty="0"/>
              <a:t>에서 표준으로 제공하는 </a:t>
            </a:r>
            <a:r>
              <a:rPr lang="en-US" altLang="ko-KR" dirty="0"/>
              <a:t>V4 </a:t>
            </a:r>
            <a:r>
              <a:rPr lang="ko-KR" altLang="en-US" dirty="0"/>
              <a:t>를 사용할 예정입니다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v1, v2</a:t>
            </a:r>
            <a:r>
              <a:rPr lang="ko-KR" altLang="en-US" dirty="0"/>
              <a:t>는 </a:t>
            </a:r>
            <a:r>
              <a:rPr lang="en-US" altLang="ko-KR" dirty="0"/>
              <a:t>timestamp </a:t>
            </a:r>
            <a:r>
              <a:rPr lang="ko-KR" altLang="en-US" dirty="0"/>
              <a:t>와 </a:t>
            </a:r>
            <a:r>
              <a:rPr lang="en-US" altLang="ko-KR" dirty="0"/>
              <a:t>mac address </a:t>
            </a:r>
            <a:r>
              <a:rPr lang="ko-KR" altLang="en-US" dirty="0"/>
              <a:t>기반인데</a:t>
            </a:r>
            <a:r>
              <a:rPr lang="en-US" altLang="ko-KR" dirty="0"/>
              <a:t>, </a:t>
            </a:r>
            <a:r>
              <a:rPr lang="ko-KR" altLang="en-US" dirty="0"/>
              <a:t>생성은 빠르지만 </a:t>
            </a:r>
            <a:r>
              <a:rPr lang="en-US" altLang="ko-KR" dirty="0"/>
              <a:t>mac address </a:t>
            </a:r>
            <a:r>
              <a:rPr lang="ko-KR" altLang="en-US" dirty="0"/>
              <a:t>가 노출되어 보안에 취약하고요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v3, v5 </a:t>
            </a:r>
            <a:r>
              <a:rPr lang="ko-KR" altLang="en-US" dirty="0"/>
              <a:t>는 암호화 알고리즘 기반이라서</a:t>
            </a:r>
            <a:r>
              <a:rPr lang="en-US" altLang="ko-KR" dirty="0"/>
              <a:t>, UUID </a:t>
            </a:r>
            <a:r>
              <a:rPr lang="ko-KR" altLang="en-US" dirty="0"/>
              <a:t>생성에 부하가 발생한다는 단점이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v4 </a:t>
            </a:r>
            <a:r>
              <a:rPr lang="ko-KR" altLang="en-US" dirty="0"/>
              <a:t>는 </a:t>
            </a:r>
            <a:r>
              <a:rPr lang="ko-KR" altLang="en-US" dirty="0" err="1"/>
              <a:t>난수값</a:t>
            </a:r>
            <a:r>
              <a:rPr lang="ko-KR" altLang="en-US" dirty="0"/>
              <a:t> 기반의 유니크 </a:t>
            </a:r>
            <a:r>
              <a:rPr lang="en-US" altLang="ko-KR" dirty="0"/>
              <a:t>ID </a:t>
            </a:r>
            <a:r>
              <a:rPr lang="ko-KR" altLang="en-US" dirty="0"/>
              <a:t>인데요</a:t>
            </a:r>
            <a:r>
              <a:rPr lang="en-US" altLang="ko-KR" dirty="0"/>
              <a:t>. </a:t>
            </a:r>
            <a:r>
              <a:rPr lang="ko-KR" altLang="en-US" dirty="0"/>
              <a:t>일단 생성이 빠르고요</a:t>
            </a:r>
            <a:r>
              <a:rPr lang="en-US" altLang="ko-KR" dirty="0"/>
              <a:t>. </a:t>
            </a:r>
            <a:r>
              <a:rPr lang="ko-KR" altLang="en-US" dirty="0"/>
              <a:t>충돌이 날 수 있지만 그 확률이 </a:t>
            </a:r>
            <a:r>
              <a:rPr lang="en-US" altLang="ko-KR" dirty="0"/>
              <a:t>0</a:t>
            </a:r>
            <a:r>
              <a:rPr lang="ko-KR" altLang="en-US" dirty="0"/>
              <a:t>에 수렴하기 때문에</a:t>
            </a:r>
            <a:r>
              <a:rPr lang="en-US" altLang="ko-KR" dirty="0"/>
              <a:t>, </a:t>
            </a:r>
            <a:r>
              <a:rPr lang="ko-KR" altLang="en-US" dirty="0"/>
              <a:t>분산 시스템에서 널리 사용되고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이게 어느 </a:t>
            </a:r>
            <a:r>
              <a:rPr lang="ko-KR" altLang="en-US" dirty="0" err="1"/>
              <a:t>정도나면</a:t>
            </a:r>
            <a:r>
              <a:rPr lang="en-US" altLang="ko-KR" dirty="0"/>
              <a:t>, </a:t>
            </a:r>
            <a:r>
              <a:rPr lang="ko-KR" altLang="en-US" dirty="0"/>
              <a:t>초당 </a:t>
            </a:r>
            <a:r>
              <a:rPr lang="en-US" altLang="ko-KR" dirty="0"/>
              <a:t>10</a:t>
            </a:r>
            <a:r>
              <a:rPr lang="ko-KR" altLang="en-US" dirty="0" err="1"/>
              <a:t>억개씩</a:t>
            </a:r>
            <a:r>
              <a:rPr lang="ko-KR" altLang="en-US" dirty="0"/>
              <a:t> </a:t>
            </a:r>
            <a:r>
              <a:rPr lang="en-US" altLang="ko-KR" dirty="0"/>
              <a:t>100</a:t>
            </a:r>
            <a:r>
              <a:rPr lang="ko-KR" altLang="en-US" dirty="0"/>
              <a:t>년을 꾸준히 생성하면</a:t>
            </a:r>
            <a:r>
              <a:rPr lang="en-US" altLang="ko-KR" dirty="0"/>
              <a:t>, </a:t>
            </a:r>
            <a:r>
              <a:rPr lang="ko-KR" altLang="en-US" dirty="0" err="1"/>
              <a:t>중복난수가</a:t>
            </a:r>
            <a:r>
              <a:rPr lang="ko-KR" altLang="en-US" dirty="0"/>
              <a:t> 한 번 발생할까 말까 한 확률이라고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물론 </a:t>
            </a:r>
            <a:r>
              <a:rPr lang="en-US" altLang="ko-KR" dirty="0"/>
              <a:t>UUID</a:t>
            </a:r>
            <a:r>
              <a:rPr lang="ko-KR" altLang="en-US" dirty="0"/>
              <a:t>는 </a:t>
            </a:r>
            <a:r>
              <a:rPr lang="en-US" altLang="ko-KR" dirty="0"/>
              <a:t>1,2,3,4, </a:t>
            </a:r>
            <a:r>
              <a:rPr lang="ko-KR" altLang="en-US" dirty="0"/>
              <a:t>같은 </a:t>
            </a:r>
            <a:r>
              <a:rPr lang="en-US" altLang="ko-KR" dirty="0"/>
              <a:t>ID</a:t>
            </a:r>
            <a:r>
              <a:rPr lang="ko-KR" altLang="en-US" dirty="0"/>
              <a:t>와 비교하면 값이 너무 크고요</a:t>
            </a:r>
            <a:r>
              <a:rPr lang="en-US" altLang="ko-KR" dirty="0"/>
              <a:t>. </a:t>
            </a:r>
            <a:r>
              <a:rPr lang="ko-KR" altLang="en-US" dirty="0"/>
              <a:t>정렬이 어렵다는 단점이 있습니다</a:t>
            </a:r>
            <a:r>
              <a:rPr lang="en-US" altLang="ko-KR" dirty="0"/>
              <a:t>. </a:t>
            </a:r>
            <a:r>
              <a:rPr lang="ko-KR" altLang="en-US" dirty="0"/>
              <a:t>때문에 </a:t>
            </a:r>
            <a:r>
              <a:rPr lang="en-US" altLang="ko-KR" dirty="0"/>
              <a:t>PK</a:t>
            </a:r>
            <a:r>
              <a:rPr lang="ko-KR" altLang="en-US" dirty="0"/>
              <a:t>로는 잘 사용하지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이런 </a:t>
            </a:r>
            <a:r>
              <a:rPr lang="en-US" altLang="ko-KR" dirty="0"/>
              <a:t>Trace ID</a:t>
            </a:r>
            <a:r>
              <a:rPr lang="ko-KR" altLang="en-US" dirty="0"/>
              <a:t> 말고 다른 용처로는</a:t>
            </a:r>
            <a:r>
              <a:rPr lang="en-US" altLang="ko-KR" dirty="0"/>
              <a:t>, </a:t>
            </a:r>
            <a:r>
              <a:rPr lang="ko-KR" altLang="en-US" dirty="0"/>
              <a:t>자사의 회원정보를 마케팅 업체에 위탁해 캠페인을 진행하는 등의</a:t>
            </a:r>
            <a:r>
              <a:rPr lang="en-US" altLang="ko-KR" dirty="0"/>
              <a:t>, </a:t>
            </a:r>
            <a:r>
              <a:rPr lang="ko-KR" altLang="en-US" dirty="0"/>
              <a:t>외부사에 보안에 민감한 데이터를 제공해야 할 때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ko-KR" altLang="en-US" dirty="0" err="1"/>
              <a:t>매핑되는</a:t>
            </a:r>
            <a:r>
              <a:rPr lang="ko-KR" altLang="en-US" dirty="0"/>
              <a:t> 키로 고려해 볼 수가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v1 : timestamp + mac address </a:t>
            </a:r>
            <a:r>
              <a:rPr lang="ko-KR" altLang="en-US" dirty="0"/>
              <a:t>기반</a:t>
            </a:r>
            <a:endParaRPr lang="en-US" altLang="ko-KR" dirty="0"/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ko-KR" altLang="en-US" dirty="0"/>
              <a:t>보안에 취약</a:t>
            </a:r>
            <a:endParaRPr lang="en-US" altLang="ko-KR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v2 : v1</a:t>
            </a:r>
            <a:r>
              <a:rPr lang="ko-KR" altLang="en-US" dirty="0"/>
              <a:t>과 마찬가지로 </a:t>
            </a:r>
            <a:r>
              <a:rPr lang="en-US" altLang="ko-KR" dirty="0"/>
              <a:t>timestamp + mac address </a:t>
            </a:r>
            <a:r>
              <a:rPr lang="ko-KR" altLang="en-US" dirty="0"/>
              <a:t>기반</a:t>
            </a:r>
            <a:endParaRPr lang="en-US" altLang="ko-KR" dirty="0"/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altLang="ko-KR" dirty="0"/>
              <a:t>timestamp </a:t>
            </a:r>
            <a:r>
              <a:rPr lang="ko-KR" altLang="en-US" dirty="0"/>
              <a:t>필드를 줄이고</a:t>
            </a:r>
            <a:r>
              <a:rPr lang="en-US" altLang="ko-KR" dirty="0"/>
              <a:t>, Domain/Identifier </a:t>
            </a:r>
            <a:r>
              <a:rPr lang="ko-KR" altLang="en-US" dirty="0"/>
              <a:t>필드를 추가함</a:t>
            </a:r>
            <a:endParaRPr lang="en-US" altLang="ko-KR" dirty="0"/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일반적인 </a:t>
            </a:r>
            <a:r>
              <a:rPr lang="en-US" altLang="ko-KR" dirty="0"/>
              <a:t>UUID</a:t>
            </a:r>
            <a:r>
              <a:rPr lang="ko-KR" altLang="en-US" dirty="0"/>
              <a:t>가 아니라 </a:t>
            </a:r>
            <a:r>
              <a:rPr lang="en-US" altLang="ko-KR" dirty="0"/>
              <a:t>DCE (Distributed computing environment) </a:t>
            </a:r>
            <a:r>
              <a:rPr lang="ko-KR" altLang="en-US" dirty="0"/>
              <a:t>환경을 위한 특수목적 </a:t>
            </a:r>
            <a:r>
              <a:rPr lang="en-US" altLang="ko-KR" dirty="0"/>
              <a:t>UUID</a:t>
            </a:r>
          </a:p>
          <a:p>
            <a:pPr marL="171450" marR="0" lvl="0" indent="-17145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v3 : namespace</a:t>
            </a:r>
            <a:r>
              <a:rPr lang="ko-KR" altLang="en-US" dirty="0"/>
              <a:t>와 </a:t>
            </a:r>
            <a:r>
              <a:rPr lang="en-US" altLang="ko-KR" dirty="0"/>
              <a:t>name </a:t>
            </a:r>
            <a:r>
              <a:rPr lang="ko-KR" altLang="en-US" dirty="0"/>
              <a:t>값을 이용한 </a:t>
            </a:r>
            <a:r>
              <a:rPr lang="en-US" altLang="ko-KR" dirty="0"/>
              <a:t>MD5 hashing </a:t>
            </a:r>
            <a:r>
              <a:rPr lang="ko-KR" altLang="en-US" dirty="0"/>
              <a:t>기반</a:t>
            </a:r>
            <a:endParaRPr lang="en-US" altLang="ko-KR" dirty="0"/>
          </a:p>
          <a:p>
            <a:pPr marL="514350" marR="0" lvl="1" indent="-17145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MD5 </a:t>
            </a:r>
            <a:r>
              <a:rPr lang="en-US" altLang="ko-KR" dirty="0" err="1"/>
              <a:t>hasing</a:t>
            </a:r>
            <a:r>
              <a:rPr lang="en-US" altLang="ko-KR" dirty="0"/>
              <a:t> </a:t>
            </a:r>
            <a:r>
              <a:rPr lang="ko-KR" altLang="en-US" dirty="0"/>
              <a:t>알고리즘은 보안취약점을 이용해 </a:t>
            </a:r>
            <a:r>
              <a:rPr lang="en-US" altLang="ko-KR" dirty="0"/>
              <a:t>reverse hashing</a:t>
            </a:r>
            <a:r>
              <a:rPr lang="ko-KR" altLang="en-US" dirty="0"/>
              <a:t>이 가능하기 때문에</a:t>
            </a:r>
            <a:r>
              <a:rPr lang="en-US" altLang="ko-KR" dirty="0"/>
              <a:t>, v3 </a:t>
            </a:r>
            <a:r>
              <a:rPr lang="ko-KR" altLang="en-US" dirty="0"/>
              <a:t>대신 </a:t>
            </a:r>
            <a:r>
              <a:rPr lang="en-US" altLang="ko-KR" dirty="0"/>
              <a:t>v5 </a:t>
            </a:r>
            <a:r>
              <a:rPr lang="ko-KR" altLang="en-US" dirty="0"/>
              <a:t>를 사용함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v5 : namespace</a:t>
            </a:r>
            <a:r>
              <a:rPr lang="ko-KR" altLang="en-US" dirty="0"/>
              <a:t>와 </a:t>
            </a:r>
            <a:r>
              <a:rPr lang="en-US" altLang="ko-KR" dirty="0"/>
              <a:t>name </a:t>
            </a:r>
            <a:r>
              <a:rPr lang="ko-KR" altLang="en-US" dirty="0"/>
              <a:t>값을 이용한 </a:t>
            </a:r>
            <a:r>
              <a:rPr lang="en-US" altLang="ko-KR" dirty="0"/>
              <a:t>SHA-1 hashing </a:t>
            </a:r>
            <a:r>
              <a:rPr lang="ko-KR" altLang="en-US" dirty="0"/>
              <a:t>기반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v4 : random </a:t>
            </a:r>
            <a:r>
              <a:rPr lang="ko-KR" altLang="en-US" dirty="0"/>
              <a:t>값</a:t>
            </a:r>
            <a:endParaRPr lang="en-US" altLang="ko-KR" dirty="0"/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altLang="ko-KR" dirty="0"/>
              <a:t>random</a:t>
            </a:r>
            <a:r>
              <a:rPr lang="ko-KR" altLang="en-US" dirty="0"/>
              <a:t>한 </a:t>
            </a:r>
            <a:r>
              <a:rPr lang="en-US" altLang="ko-KR" dirty="0"/>
              <a:t>16 byte</a:t>
            </a:r>
            <a:r>
              <a:rPr lang="ko-KR" altLang="en-US" dirty="0"/>
              <a:t>를 만듭니다</a:t>
            </a:r>
            <a:r>
              <a:rPr lang="en-US" altLang="ko-KR" dirty="0"/>
              <a:t>.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ko-KR" altLang="en-US" dirty="0"/>
              <a:t>특정 비트의 값을 항상 변경해줍니다</a:t>
            </a:r>
            <a:r>
              <a:rPr lang="en-US" altLang="ko-KR" dirty="0"/>
              <a:t>. (RFC-4122 section 4.4)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충돌이 날 수 있지만</a:t>
            </a:r>
            <a:r>
              <a:rPr lang="en-US" altLang="ko-KR" dirty="0"/>
              <a:t>, </a:t>
            </a:r>
            <a:r>
              <a:rPr lang="ko-KR" altLang="en-US" dirty="0"/>
              <a:t>확률이 </a:t>
            </a:r>
            <a:r>
              <a:rPr lang="en-US" altLang="ko-KR" dirty="0"/>
              <a:t>0</a:t>
            </a:r>
            <a:r>
              <a:rPr lang="ko-KR" altLang="en-US" dirty="0"/>
              <a:t>에 수렴</a:t>
            </a:r>
            <a:endParaRPr lang="en-US" altLang="ko-KR" dirty="0"/>
          </a:p>
          <a:p>
            <a:pPr marL="857250" lvl="2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초당 </a:t>
            </a:r>
            <a:r>
              <a:rPr lang="en-US" altLang="ko-KR" dirty="0"/>
              <a:t>10</a:t>
            </a:r>
            <a:r>
              <a:rPr lang="ko-KR" altLang="en-US" dirty="0" err="1"/>
              <a:t>억개의</a:t>
            </a:r>
            <a:r>
              <a:rPr lang="ko-KR" altLang="en-US" dirty="0"/>
              <a:t> </a:t>
            </a:r>
            <a:r>
              <a:rPr lang="en-US" altLang="ko-KR" dirty="0"/>
              <a:t>UUID</a:t>
            </a:r>
            <a:r>
              <a:rPr lang="ko-KR" altLang="en-US" dirty="0"/>
              <a:t>를 </a:t>
            </a:r>
            <a:r>
              <a:rPr lang="en-US" altLang="ko-KR" dirty="0"/>
              <a:t>100</a:t>
            </a:r>
            <a:r>
              <a:rPr lang="ko-KR" altLang="en-US" dirty="0" err="1"/>
              <a:t>년동안</a:t>
            </a:r>
            <a:r>
              <a:rPr lang="ko-KR" altLang="en-US" dirty="0"/>
              <a:t> 생성해야 충돌 한 번이 발생할 확률이 </a:t>
            </a:r>
            <a:r>
              <a:rPr lang="en-US" altLang="ko-KR" dirty="0"/>
              <a:t>50%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24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UUID </a:t>
            </a:r>
            <a:r>
              <a:rPr lang="ko-KR" altLang="en-US" dirty="0"/>
              <a:t>기반으로 </a:t>
            </a:r>
            <a:r>
              <a:rPr lang="en-US" altLang="ko-KR" dirty="0" err="1"/>
              <a:t>txid</a:t>
            </a:r>
            <a:r>
              <a:rPr lang="en-US" altLang="ko-KR" dirty="0"/>
              <a:t> </a:t>
            </a:r>
            <a:r>
              <a:rPr lang="ko-KR" altLang="en-US" dirty="0"/>
              <a:t>를 </a:t>
            </a:r>
            <a:r>
              <a:rPr lang="ko-KR" altLang="en-US" dirty="0" err="1"/>
              <a:t>채번해서</a:t>
            </a:r>
            <a:r>
              <a:rPr lang="en-US" altLang="ko-KR" dirty="0"/>
              <a:t>, </a:t>
            </a:r>
            <a:r>
              <a:rPr lang="ko-KR" altLang="en-US" dirty="0"/>
              <a:t>로그마다 출력해보는 실습을 진행해 보도록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338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에러가 발생하면</a:t>
            </a:r>
            <a:r>
              <a:rPr lang="en-US" altLang="ko-KR" dirty="0"/>
              <a:t>, API </a:t>
            </a:r>
            <a:r>
              <a:rPr lang="ko-KR" altLang="en-US" dirty="0"/>
              <a:t>를 호출한 곳에는 적절한 오류 응답을 전송해야 하고요</a:t>
            </a:r>
            <a:r>
              <a:rPr lang="en-US" altLang="ko-KR" dirty="0"/>
              <a:t>. </a:t>
            </a:r>
            <a:r>
              <a:rPr lang="ko-KR" altLang="en-US" dirty="0"/>
              <a:t>서버에서는 오류를 확인할 수 있는 로그를 출력해 주어야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그간 </a:t>
            </a:r>
            <a:r>
              <a:rPr lang="en-US" altLang="ko-KR" dirty="0"/>
              <a:t>MVC, Reactor</a:t>
            </a:r>
            <a:r>
              <a:rPr lang="ko-KR" altLang="en-US" dirty="0"/>
              <a:t> </a:t>
            </a:r>
            <a:r>
              <a:rPr lang="en-US" altLang="ko-KR" dirty="0" err="1"/>
              <a:t>Webflux</a:t>
            </a:r>
            <a:r>
              <a:rPr lang="en-US" altLang="ko-KR" dirty="0"/>
              <a:t>, Coroutine </a:t>
            </a:r>
            <a:r>
              <a:rPr lang="en-US" altLang="ko-KR" dirty="0" err="1"/>
              <a:t>Webflux</a:t>
            </a:r>
            <a:r>
              <a:rPr lang="en-US" altLang="ko-KR" dirty="0"/>
              <a:t> </a:t>
            </a:r>
            <a:r>
              <a:rPr lang="ko-KR" altLang="en-US" dirty="0"/>
              <a:t>구현실습에서는</a:t>
            </a:r>
            <a:r>
              <a:rPr lang="en-US" altLang="ko-KR" dirty="0"/>
              <a:t>, </a:t>
            </a:r>
            <a:r>
              <a:rPr lang="ko-KR" altLang="en-US" dirty="0"/>
              <a:t>이 오류처리 기능이 없어서 디버깅이 쉽지 않으셨을 </a:t>
            </a:r>
            <a:r>
              <a:rPr lang="ko-KR" altLang="en-US" dirty="0" err="1"/>
              <a:t>거에요</a:t>
            </a:r>
            <a:r>
              <a:rPr lang="en-US" altLang="ko-KR" dirty="0"/>
              <a:t>.</a:t>
            </a:r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이번 시간에는 </a:t>
            </a:r>
            <a:r>
              <a:rPr lang="en-US" altLang="ko-KR" dirty="0" err="1"/>
              <a:t>Webflux</a:t>
            </a:r>
            <a:r>
              <a:rPr lang="en-US" altLang="ko-KR" dirty="0"/>
              <a:t> </a:t>
            </a:r>
            <a:r>
              <a:rPr lang="ko-KR" altLang="en-US" dirty="0"/>
              <a:t>에서 오류 </a:t>
            </a:r>
            <a:r>
              <a:rPr lang="ko-KR" altLang="en-US" dirty="0" err="1"/>
              <a:t>핸들러를</a:t>
            </a:r>
            <a:r>
              <a:rPr lang="ko-KR" altLang="en-US" dirty="0"/>
              <a:t> 구현해 보겠습니다</a:t>
            </a:r>
            <a:r>
              <a:rPr lang="en-US" altLang="ko-KR" dirty="0"/>
              <a:t>..</a:t>
            </a:r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130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</a:t>
            </a:r>
            <a:r>
              <a:rPr lang="en-US" altLang="ko-KR" dirty="0" err="1"/>
              <a:t>ErrorAttribute</a:t>
            </a:r>
            <a:r>
              <a:rPr lang="ko-KR" altLang="en-US" dirty="0"/>
              <a:t>를 재정의한 방법으로 전역 오류 </a:t>
            </a:r>
            <a:r>
              <a:rPr lang="ko-KR" altLang="en-US" dirty="0" err="1"/>
              <a:t>핸들러를</a:t>
            </a:r>
            <a:r>
              <a:rPr lang="ko-KR" altLang="en-US" dirty="0"/>
              <a:t> 구현해 보겠습니다</a:t>
            </a:r>
            <a:r>
              <a:rPr lang="en-US" altLang="ko-KR" dirty="0"/>
              <a:t>..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823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request </a:t>
            </a:r>
            <a:r>
              <a:rPr lang="ko-KR" altLang="en-US" dirty="0"/>
              <a:t>가 어떤 파라미터로 작동했는지를 로그에 </a:t>
            </a:r>
            <a:r>
              <a:rPr lang="ko-KR" altLang="en-US" dirty="0" err="1"/>
              <a:t>남겨놔야</a:t>
            </a:r>
            <a:r>
              <a:rPr lang="en-US" altLang="ko-KR" dirty="0"/>
              <a:t>, </a:t>
            </a:r>
            <a:r>
              <a:rPr lang="ko-KR" altLang="en-US" dirty="0"/>
              <a:t>이후 로그를 통해 오류 상황을 재현해 볼 수 있습니다</a:t>
            </a:r>
            <a:r>
              <a:rPr lang="en-US" altLang="ko-KR" dirty="0"/>
              <a:t>. </a:t>
            </a:r>
            <a:r>
              <a:rPr lang="ko-KR" altLang="en-US" dirty="0"/>
              <a:t>물론 디버깅 할 때도 편리하고요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응답 결과는 로그에 남기지 않는 것이 일반적이라서</a:t>
            </a:r>
            <a:r>
              <a:rPr lang="en-US" altLang="ko-KR" dirty="0"/>
              <a:t>, </a:t>
            </a:r>
            <a:r>
              <a:rPr lang="ko-KR" altLang="en-US" dirty="0"/>
              <a:t>저희는 </a:t>
            </a:r>
            <a:r>
              <a:rPr lang="en-US" altLang="ko-KR" dirty="0"/>
              <a:t>request </a:t>
            </a:r>
            <a:r>
              <a:rPr lang="ko-KR" altLang="en-US" dirty="0"/>
              <a:t>파라미터만 로그에 남겨보도록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58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request</a:t>
            </a:r>
            <a:r>
              <a:rPr lang="ko-KR" altLang="en-US" dirty="0"/>
              <a:t> 파라미터를 찍는 로그 모듈을 </a:t>
            </a:r>
            <a:r>
              <a:rPr lang="en-US" altLang="ko-KR" dirty="0"/>
              <a:t>Filter </a:t>
            </a:r>
            <a:r>
              <a:rPr lang="ko-KR" altLang="en-US" dirty="0"/>
              <a:t>형태로 구현해 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476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호출하려는 서버에 과부하가 걸렸습니다</a:t>
            </a:r>
            <a:r>
              <a:rPr lang="en-US" altLang="ko-KR" dirty="0"/>
              <a:t>. </a:t>
            </a:r>
            <a:r>
              <a:rPr lang="ko-KR" altLang="en-US" dirty="0"/>
              <a:t>성능검증 할 때 확인하신 것처럼</a:t>
            </a:r>
            <a:r>
              <a:rPr lang="en-US" altLang="ko-KR" dirty="0"/>
              <a:t>, MVC </a:t>
            </a:r>
            <a:r>
              <a:rPr lang="ko-KR" altLang="en-US" dirty="0"/>
              <a:t>기반의 서버는 대규모 트래픽에 쉽게 느려집니다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ECS</a:t>
            </a:r>
            <a:r>
              <a:rPr lang="ko-KR" altLang="en-US" dirty="0"/>
              <a:t>나 </a:t>
            </a:r>
            <a:r>
              <a:rPr lang="en-US" altLang="ko-KR" dirty="0"/>
              <a:t>EKS</a:t>
            </a:r>
            <a:r>
              <a:rPr lang="ko-KR" altLang="en-US" dirty="0"/>
              <a:t>처럼 컨테이너 기반으로 </a:t>
            </a:r>
            <a:r>
              <a:rPr lang="ko-KR" altLang="en-US" dirty="0" err="1"/>
              <a:t>엘라스틱하게</a:t>
            </a:r>
            <a:r>
              <a:rPr lang="ko-KR" altLang="en-US" dirty="0"/>
              <a:t> 확장되는 서버환경이라면</a:t>
            </a:r>
            <a:r>
              <a:rPr lang="en-US" altLang="ko-KR" dirty="0"/>
              <a:t>, </a:t>
            </a:r>
            <a:r>
              <a:rPr lang="ko-KR" altLang="en-US" dirty="0"/>
              <a:t>컨테이너 기동은 몇 초 </a:t>
            </a:r>
            <a:r>
              <a:rPr lang="ko-KR" altLang="en-US" dirty="0" err="1"/>
              <a:t>안걸리기</a:t>
            </a:r>
            <a:r>
              <a:rPr lang="ko-KR" altLang="en-US" dirty="0"/>
              <a:t> 때문에</a:t>
            </a:r>
            <a:r>
              <a:rPr lang="en-US" altLang="ko-KR" dirty="0"/>
              <a:t>, </a:t>
            </a:r>
            <a:r>
              <a:rPr lang="ko-KR" altLang="en-US" dirty="0"/>
              <a:t>대규모 트래픽에 그나마 쉽게 대응이 가능합니다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en-US" altLang="ko-KR" dirty="0"/>
              <a:t>VM </a:t>
            </a:r>
            <a:r>
              <a:rPr lang="ko-KR" altLang="en-US" dirty="0"/>
              <a:t>이라면</a:t>
            </a:r>
            <a:r>
              <a:rPr lang="en-US" altLang="ko-KR" dirty="0"/>
              <a:t>… </a:t>
            </a:r>
            <a:r>
              <a:rPr lang="ko-KR" altLang="en-US" dirty="0" err="1"/>
              <a:t>오토스케일로</a:t>
            </a:r>
            <a:r>
              <a:rPr lang="ko-KR" altLang="en-US" dirty="0"/>
              <a:t> 대응한다 해도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OS</a:t>
            </a:r>
            <a:r>
              <a:rPr lang="ko-KR" altLang="en-US" dirty="0"/>
              <a:t>가 </a:t>
            </a:r>
            <a:r>
              <a:rPr lang="ko-KR" altLang="en-US" dirty="0" err="1"/>
              <a:t>기동되는데</a:t>
            </a:r>
            <a:r>
              <a:rPr lang="ko-KR" altLang="en-US" dirty="0"/>
              <a:t> </a:t>
            </a:r>
            <a:r>
              <a:rPr lang="en-US" altLang="ko-KR" dirty="0"/>
              <a:t>3~4</a:t>
            </a:r>
            <a:r>
              <a:rPr lang="ko-KR" altLang="en-US" dirty="0"/>
              <a:t>분 정도 걸리기 때문에</a:t>
            </a:r>
            <a:r>
              <a:rPr lang="en-US" altLang="ko-KR" dirty="0"/>
              <a:t>, </a:t>
            </a:r>
            <a:r>
              <a:rPr lang="ko-KR" altLang="en-US" dirty="0"/>
              <a:t>기민한 서버 확장이 어렵습니다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만약 </a:t>
            </a:r>
            <a:r>
              <a:rPr lang="ko-KR" altLang="en-US" dirty="0" err="1"/>
              <a:t>오토스케일이</a:t>
            </a:r>
            <a:r>
              <a:rPr lang="ko-KR" altLang="en-US" dirty="0"/>
              <a:t> </a:t>
            </a:r>
            <a:r>
              <a:rPr lang="ko-KR" altLang="en-US" dirty="0" err="1"/>
              <a:t>안걸린</a:t>
            </a:r>
            <a:r>
              <a:rPr lang="ko-KR" altLang="en-US" dirty="0"/>
              <a:t> </a:t>
            </a:r>
            <a:r>
              <a:rPr lang="en-US" altLang="ko-KR" dirty="0"/>
              <a:t>VM</a:t>
            </a:r>
            <a:r>
              <a:rPr lang="ko-KR" altLang="en-US" dirty="0"/>
              <a:t>이거나</a:t>
            </a:r>
            <a:r>
              <a:rPr lang="en-US" altLang="ko-KR" dirty="0"/>
              <a:t>, </a:t>
            </a:r>
            <a:r>
              <a:rPr lang="ko-KR" altLang="en-US" dirty="0"/>
              <a:t>혹은 물리서버라면</a:t>
            </a:r>
            <a:r>
              <a:rPr lang="en-US" altLang="ko-KR" dirty="0"/>
              <a:t>… </a:t>
            </a:r>
            <a:r>
              <a:rPr lang="ko-KR" altLang="en-US" dirty="0"/>
              <a:t>장애상황을 그냥 무방비로 견뎌야만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</a:t>
            </a:r>
            <a:r>
              <a:rPr lang="en-US" altLang="ko-KR" dirty="0"/>
              <a:t>... </a:t>
            </a:r>
            <a:r>
              <a:rPr lang="ko-KR" altLang="en-US" dirty="0"/>
              <a:t>문제는</a:t>
            </a:r>
            <a:r>
              <a:rPr lang="en-US" altLang="ko-KR" dirty="0"/>
              <a:t>… </a:t>
            </a:r>
            <a:r>
              <a:rPr lang="ko-KR" altLang="en-US" dirty="0"/>
              <a:t>이런 장애상황이 걷잡을 수 없이 전파되면</a:t>
            </a:r>
            <a:r>
              <a:rPr lang="en-US" altLang="ko-KR" dirty="0"/>
              <a:t>, </a:t>
            </a:r>
            <a:r>
              <a:rPr lang="ko-KR" altLang="en-US" dirty="0"/>
              <a:t>자칫 인프라 </a:t>
            </a:r>
            <a:r>
              <a:rPr lang="ko-KR" altLang="en-US" dirty="0" err="1"/>
              <a:t>셧다운으로</a:t>
            </a:r>
            <a:r>
              <a:rPr lang="ko-KR" altLang="en-US" dirty="0"/>
              <a:t> 이어지고</a:t>
            </a:r>
            <a:r>
              <a:rPr lang="en-US" altLang="ko-KR" dirty="0"/>
              <a:t>, </a:t>
            </a:r>
            <a:r>
              <a:rPr lang="ko-KR" altLang="en-US" dirty="0"/>
              <a:t>이로 인해 데이터 안정성을 해치는 극단적인 상황까지 발생할 수 있다는 점입니다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MSA </a:t>
            </a:r>
            <a:r>
              <a:rPr lang="ko-KR" altLang="en-US" dirty="0"/>
              <a:t>환경에서는</a:t>
            </a:r>
            <a:r>
              <a:rPr lang="en-US" altLang="ko-KR" dirty="0"/>
              <a:t>, </a:t>
            </a:r>
            <a:r>
              <a:rPr lang="ko-KR" altLang="en-US" dirty="0"/>
              <a:t>장애 전파를 차단하는데 지나칠 정도로 예민하게 시스템을 구성해야만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아무리 </a:t>
            </a:r>
            <a:r>
              <a:rPr lang="en-US" altLang="ko-KR" dirty="0" err="1"/>
              <a:t>Webflux</a:t>
            </a:r>
            <a:r>
              <a:rPr lang="en-US" altLang="ko-KR" dirty="0"/>
              <a:t> </a:t>
            </a:r>
            <a:r>
              <a:rPr lang="ko-KR" altLang="en-US" dirty="0"/>
              <a:t>로 </a:t>
            </a:r>
            <a:r>
              <a:rPr lang="en-US" altLang="ko-KR" dirty="0"/>
              <a:t>IO </a:t>
            </a:r>
            <a:r>
              <a:rPr lang="ko-KR" altLang="en-US" dirty="0"/>
              <a:t>지연에 강건한 시스템을 구성했다 하더라도 이는 마찬가지이고요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써킷</a:t>
            </a:r>
            <a:r>
              <a:rPr lang="ko-KR" altLang="en-US" dirty="0"/>
              <a:t> </a:t>
            </a:r>
            <a:r>
              <a:rPr lang="ko-KR" altLang="en-US" dirty="0" err="1"/>
              <a:t>브레이커는</a:t>
            </a:r>
            <a:r>
              <a:rPr lang="en-US" altLang="ko-KR" dirty="0"/>
              <a:t>, </a:t>
            </a:r>
            <a:r>
              <a:rPr lang="ko-KR" altLang="en-US" dirty="0"/>
              <a:t>허용 범위를 넘는 오류가 지속될 경우</a:t>
            </a:r>
            <a:r>
              <a:rPr lang="en-US" altLang="ko-KR" dirty="0"/>
              <a:t>, </a:t>
            </a:r>
            <a:r>
              <a:rPr lang="ko-KR" altLang="en-US" dirty="0"/>
              <a:t>호출을 차단하는 </a:t>
            </a:r>
            <a:r>
              <a:rPr lang="en-US" altLang="ko-KR" dirty="0"/>
              <a:t>proxy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만약 </a:t>
            </a:r>
            <a:r>
              <a:rPr lang="ko-KR" altLang="en-US" dirty="0" err="1"/>
              <a:t>쿠버네티스</a:t>
            </a:r>
            <a:r>
              <a:rPr lang="ko-KR" altLang="en-US" dirty="0"/>
              <a:t> 인프라 환경이라면</a:t>
            </a:r>
            <a:r>
              <a:rPr lang="en-US" altLang="ko-KR" dirty="0"/>
              <a:t>, Istio</a:t>
            </a:r>
            <a:r>
              <a:rPr lang="ko-KR" altLang="en-US" dirty="0"/>
              <a:t>를 사용해 인프라 레벨에서 서킷 </a:t>
            </a:r>
            <a:r>
              <a:rPr lang="ko-KR" altLang="en-US" dirty="0" err="1"/>
              <a:t>브레이커를</a:t>
            </a:r>
            <a:r>
              <a:rPr lang="ko-KR" altLang="en-US" dirty="0"/>
              <a:t> 적용하시면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</a:t>
            </a:r>
            <a:r>
              <a:rPr lang="en-US" altLang="ko-KR" dirty="0"/>
              <a:t>, Istio </a:t>
            </a:r>
            <a:r>
              <a:rPr lang="ko-KR" altLang="en-US" dirty="0"/>
              <a:t>적용이 곤란하거나</a:t>
            </a:r>
            <a:r>
              <a:rPr lang="en-US" altLang="ko-KR" dirty="0"/>
              <a:t>, </a:t>
            </a:r>
            <a:r>
              <a:rPr lang="ko-KR" altLang="en-US" dirty="0"/>
              <a:t>혹은 </a:t>
            </a:r>
            <a:r>
              <a:rPr lang="ko-KR" altLang="en-US" dirty="0" err="1"/>
              <a:t>쿠버네티스</a:t>
            </a:r>
            <a:r>
              <a:rPr lang="ko-KR" altLang="en-US" dirty="0"/>
              <a:t> 환경까지는 사용할 필요가 없을 경우가 더 많기 때문에</a:t>
            </a:r>
            <a:r>
              <a:rPr lang="en-US" altLang="ko-KR" dirty="0"/>
              <a:t>,</a:t>
            </a:r>
            <a:r>
              <a:rPr lang="ko-KR" altLang="en-US" dirty="0"/>
              <a:t> 저희는 어플리케이션 레벨에서 서킷 </a:t>
            </a:r>
            <a:r>
              <a:rPr lang="ko-KR" altLang="en-US" dirty="0" err="1"/>
              <a:t>브레이커를</a:t>
            </a:r>
            <a:r>
              <a:rPr lang="ko-KR" altLang="en-US" dirty="0"/>
              <a:t> 구현해 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453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구현 실습입니다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저희는 비동기 처리를 지원하는 </a:t>
            </a:r>
            <a:r>
              <a:rPr lang="ko-KR" altLang="en-US" dirty="0" err="1"/>
              <a:t>리즐리언스</a:t>
            </a:r>
            <a:r>
              <a:rPr lang="ko-KR" altLang="en-US" dirty="0"/>
              <a:t> </a:t>
            </a:r>
            <a:r>
              <a:rPr lang="en-US" altLang="ko-KR" dirty="0"/>
              <a:t>4J (Resilence4j) </a:t>
            </a:r>
            <a:r>
              <a:rPr lang="ko-KR" altLang="en-US" dirty="0"/>
              <a:t>라이브러리를 사용해</a:t>
            </a:r>
            <a:r>
              <a:rPr lang="en-US" altLang="ko-KR" dirty="0"/>
              <a:t>,</a:t>
            </a:r>
            <a:r>
              <a:rPr lang="ko-KR" altLang="en-US" dirty="0"/>
              <a:t> 서킷 </a:t>
            </a:r>
            <a:r>
              <a:rPr lang="ko-KR" altLang="en-US" dirty="0" err="1"/>
              <a:t>브레이커를</a:t>
            </a:r>
            <a:r>
              <a:rPr lang="ko-KR" altLang="en-US" dirty="0"/>
              <a:t> 구현해 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803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Spring </a:t>
            </a:r>
            <a:r>
              <a:rPr lang="ko-KR" altLang="en-US" dirty="0"/>
              <a:t>프레임워크의 </a:t>
            </a:r>
            <a:r>
              <a:rPr lang="en-US" altLang="ko-KR" dirty="0"/>
              <a:t>Cache </a:t>
            </a:r>
            <a:r>
              <a:rPr lang="ko-KR" altLang="en-US" dirty="0"/>
              <a:t>구현체로서 </a:t>
            </a:r>
            <a:r>
              <a:rPr lang="en-US" altLang="ko-KR" dirty="0"/>
              <a:t>Redis </a:t>
            </a:r>
            <a:r>
              <a:rPr lang="ko-KR" altLang="en-US" dirty="0"/>
              <a:t>를 접하신 분들 많으실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Redis</a:t>
            </a:r>
            <a:r>
              <a:rPr lang="ko-KR" altLang="en-US" dirty="0"/>
              <a:t>는 </a:t>
            </a:r>
            <a:r>
              <a:rPr lang="en-US" altLang="ko-KR" dirty="0"/>
              <a:t>Memcached </a:t>
            </a:r>
            <a:r>
              <a:rPr lang="ko-KR" altLang="en-US" dirty="0"/>
              <a:t>에 비해 약간 느리지만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en-US" altLang="ko-KR" dirty="0"/>
              <a:t>AIO </a:t>
            </a:r>
            <a:r>
              <a:rPr lang="ko-KR" altLang="en-US" dirty="0"/>
              <a:t>기반의 싱글 쓰레드로 동작하기 때문에</a:t>
            </a:r>
            <a:r>
              <a:rPr lang="en-US" altLang="ko-KR" dirty="0"/>
              <a:t> </a:t>
            </a:r>
            <a:r>
              <a:rPr lang="ko-KR" altLang="en-US" dirty="0"/>
              <a:t>처리흐름이 직관적이고</a:t>
            </a:r>
            <a:r>
              <a:rPr lang="en-US" altLang="ko-KR" dirty="0"/>
              <a:t>, API</a:t>
            </a:r>
            <a:r>
              <a:rPr lang="ko-KR" altLang="en-US" dirty="0"/>
              <a:t>를 다루기 쉽다는 장점이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</a:t>
            </a:r>
            <a:r>
              <a:rPr lang="en-US" altLang="ko-KR" dirty="0"/>
              <a:t>, Spring </a:t>
            </a:r>
            <a:r>
              <a:rPr lang="ko-KR" altLang="en-US" dirty="0"/>
              <a:t>프레임워크에서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cache </a:t>
            </a:r>
            <a:r>
              <a:rPr lang="ko-KR" altLang="en-US" b="1" u="sng" dirty="0" err="1"/>
              <a:t>어노테이션</a:t>
            </a:r>
            <a:r>
              <a:rPr lang="ko-KR" altLang="en-US" dirty="0" err="1"/>
              <a:t>으로만</a:t>
            </a:r>
            <a:r>
              <a:rPr lang="ko-KR" altLang="en-US" dirty="0"/>
              <a:t> </a:t>
            </a:r>
            <a:r>
              <a:rPr lang="en-US" altLang="ko-KR" dirty="0" err="1"/>
              <a:t>redis</a:t>
            </a:r>
            <a:r>
              <a:rPr lang="en-US" altLang="ko-KR" dirty="0"/>
              <a:t> </a:t>
            </a:r>
            <a:r>
              <a:rPr lang="ko-KR" altLang="en-US" dirty="0"/>
              <a:t>를 접하셨다면</a:t>
            </a:r>
            <a:r>
              <a:rPr lang="en-US" altLang="ko-KR" dirty="0"/>
              <a:t>, </a:t>
            </a:r>
            <a:r>
              <a:rPr lang="ko-KR" altLang="en-US" dirty="0"/>
              <a:t>이런 강력함을 미처 몰라보셨을 수도 있으실 </a:t>
            </a:r>
            <a:r>
              <a:rPr lang="ko-KR" altLang="en-US" dirty="0" err="1"/>
              <a:t>거에요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서버 인스턴스 간에는 메모리를 공유하지 않습니다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queue </a:t>
            </a:r>
            <a:r>
              <a:rPr lang="ko-KR" altLang="en-US" dirty="0"/>
              <a:t>나</a:t>
            </a:r>
            <a:r>
              <a:rPr lang="en-US" altLang="ko-KR" dirty="0"/>
              <a:t>, LinkedList, map, set </a:t>
            </a:r>
            <a:r>
              <a:rPr lang="ko-KR" altLang="en-US" dirty="0"/>
              <a:t>등의 자료구조를 문제해결에 잘 사용하지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물론 메서드 안에서 로컬 변수로는 많이들 사용하셨을 </a:t>
            </a:r>
            <a:r>
              <a:rPr lang="ko-KR" altLang="en-US" dirty="0" err="1"/>
              <a:t>거에요</a:t>
            </a:r>
            <a:r>
              <a:rPr lang="en-US" altLang="ko-KR" dirty="0"/>
              <a:t>. </a:t>
            </a:r>
            <a:r>
              <a:rPr lang="ko-KR" altLang="en-US" dirty="0"/>
              <a:t>지금 말씀드리는 상황은</a:t>
            </a:r>
            <a:r>
              <a:rPr lang="en-US" altLang="ko-KR" dirty="0"/>
              <a:t>, </a:t>
            </a:r>
            <a:r>
              <a:rPr lang="ko-KR" altLang="en-US" dirty="0"/>
              <a:t>예를 들면</a:t>
            </a:r>
            <a:r>
              <a:rPr lang="en-US" altLang="ko-KR" dirty="0"/>
              <a:t>…</a:t>
            </a:r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만약</a:t>
            </a:r>
            <a:r>
              <a:rPr lang="en-US" altLang="ko-KR" dirty="0"/>
              <a:t>, </a:t>
            </a:r>
            <a:r>
              <a:rPr lang="ko-KR" altLang="en-US" dirty="0"/>
              <a:t>서버 간에 공유 가능한 </a:t>
            </a:r>
            <a:r>
              <a:rPr lang="en-US" altLang="ko-KR" dirty="0"/>
              <a:t>sorted set </a:t>
            </a:r>
            <a:r>
              <a:rPr lang="ko-KR" altLang="en-US" dirty="0"/>
              <a:t>이 있다면</a:t>
            </a:r>
            <a:r>
              <a:rPr lang="en-US" altLang="ko-KR" dirty="0"/>
              <a:t>, sorted set</a:t>
            </a:r>
            <a:r>
              <a:rPr lang="ko-KR" altLang="en-US" dirty="0"/>
              <a:t>은 입력 즉시 정렬되는 자료구조고</a:t>
            </a:r>
            <a:r>
              <a:rPr lang="en-US" altLang="ko-KR" dirty="0"/>
              <a:t>, </a:t>
            </a:r>
            <a:r>
              <a:rPr lang="ko-KR" altLang="en-US" dirty="0"/>
              <a:t>여기에 제목과 랭킹점수를 여러 서버에서 입력하면</a:t>
            </a:r>
            <a:r>
              <a:rPr lang="en-US" altLang="ko-KR" dirty="0"/>
              <a:t>, </a:t>
            </a:r>
            <a:r>
              <a:rPr lang="ko-KR" altLang="en-US" dirty="0"/>
              <a:t>입력 즉시 </a:t>
            </a:r>
            <a:r>
              <a:rPr lang="en-US" altLang="ko-KR" dirty="0"/>
              <a:t>! </a:t>
            </a:r>
            <a:r>
              <a:rPr lang="ko-KR" altLang="en-US" dirty="0"/>
              <a:t>정렬되는 실시간 랭킹시스템을 만들 수도 있을 </a:t>
            </a:r>
            <a:r>
              <a:rPr lang="ko-KR" altLang="en-US" dirty="0" err="1"/>
              <a:t>거에요</a:t>
            </a:r>
            <a:r>
              <a:rPr lang="en-US" altLang="ko-KR" dirty="0"/>
              <a:t>.</a:t>
            </a:r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Redis </a:t>
            </a:r>
            <a:r>
              <a:rPr lang="ko-KR" altLang="en-US" dirty="0"/>
              <a:t>는 바로</a:t>
            </a:r>
            <a:r>
              <a:rPr lang="en-US" altLang="ko-KR" dirty="0"/>
              <a:t>, </a:t>
            </a:r>
            <a:r>
              <a:rPr lang="ko-KR" altLang="en-US" dirty="0"/>
              <a:t>서버 인스턴스 간에 이런 자료구조를 공유할 수 있게끔 해주는 메모리 역할을 수행합니다</a:t>
            </a:r>
            <a:r>
              <a:rPr lang="en-US" altLang="ko-KR" dirty="0"/>
              <a:t>.</a:t>
            </a:r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이번 시간에 저희는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Redis</a:t>
            </a:r>
            <a:r>
              <a:rPr lang="ko-KR" altLang="en-US" dirty="0"/>
              <a:t>가 제공하는 다양한 </a:t>
            </a:r>
            <a:r>
              <a:rPr lang="en-US" altLang="ko-KR" dirty="0"/>
              <a:t>operation</a:t>
            </a:r>
            <a:r>
              <a:rPr lang="ko-KR" altLang="en-US" dirty="0"/>
              <a:t>을 사용해 보고</a:t>
            </a:r>
            <a:r>
              <a:rPr lang="en-US" altLang="ko-KR" dirty="0"/>
              <a:t>, </a:t>
            </a:r>
            <a:r>
              <a:rPr lang="ko-KR" altLang="en-US" dirty="0"/>
              <a:t>서버 간에 공유 가능한 메모리 유형도 파악해 보겠습니다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860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r>
              <a:rPr lang="en-US" altLang="ko-KR" dirty="0"/>
              <a:t>Redis </a:t>
            </a:r>
            <a:r>
              <a:rPr lang="ko-KR" altLang="en-US" dirty="0"/>
              <a:t>서버를 구성하고</a:t>
            </a:r>
            <a:r>
              <a:rPr lang="en-US" altLang="ko-KR" dirty="0"/>
              <a:t>, </a:t>
            </a:r>
            <a:r>
              <a:rPr lang="en-US" altLang="ko-KR" dirty="0" err="1"/>
              <a:t>Webflux</a:t>
            </a:r>
            <a:r>
              <a:rPr lang="en-US" altLang="ko-KR" dirty="0"/>
              <a:t> </a:t>
            </a:r>
            <a:r>
              <a:rPr lang="ko-KR" altLang="en-US" dirty="0"/>
              <a:t>에서 </a:t>
            </a:r>
            <a:r>
              <a:rPr lang="en-US" altLang="ko-KR" dirty="0"/>
              <a:t>reactive </a:t>
            </a:r>
            <a:r>
              <a:rPr lang="ko-KR" altLang="en-US" dirty="0"/>
              <a:t>방식으로 </a:t>
            </a:r>
            <a:r>
              <a:rPr lang="en-US" altLang="ko-KR" dirty="0" err="1"/>
              <a:t>redis</a:t>
            </a:r>
            <a:r>
              <a:rPr lang="en-US" altLang="ko-KR" dirty="0"/>
              <a:t> </a:t>
            </a:r>
            <a:r>
              <a:rPr lang="ko-KR" altLang="en-US" dirty="0"/>
              <a:t>서버를 호출해 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000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지금부터는 </a:t>
            </a:r>
            <a:r>
              <a:rPr lang="en-US" altLang="ko-KR" dirty="0"/>
              <a:t>Redis </a:t>
            </a:r>
            <a:r>
              <a:rPr lang="ko-KR" altLang="en-US" dirty="0"/>
              <a:t>가 제공하는 다양한 연산을 알아보겠습니다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958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매번 </a:t>
            </a:r>
            <a:r>
              <a:rPr lang="en-US" altLang="ko-KR" dirty="0"/>
              <a:t>DB</a:t>
            </a:r>
            <a:r>
              <a:rPr lang="ko-KR" altLang="en-US" dirty="0"/>
              <a:t>를 조회하는 것이 아니라</a:t>
            </a:r>
            <a:r>
              <a:rPr lang="en-US" altLang="ko-KR" dirty="0"/>
              <a:t>, Cache </a:t>
            </a:r>
            <a:r>
              <a:rPr lang="ko-KR" altLang="en-US" dirty="0"/>
              <a:t>에 저장해 놓고 여기에서 데이터를 넘겨주는 것이</a:t>
            </a:r>
            <a:r>
              <a:rPr lang="en-US" altLang="ko-KR" dirty="0"/>
              <a:t>, </a:t>
            </a:r>
            <a:r>
              <a:rPr lang="ko-KR" altLang="en-US" dirty="0" err="1"/>
              <a:t>테크</a:t>
            </a:r>
            <a:r>
              <a:rPr lang="ko-KR" altLang="en-US" dirty="0"/>
              <a:t> 기업에서 서비스를 빠르게 만드는 주요한 마법입니다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</a:t>
            </a:r>
            <a:r>
              <a:rPr lang="en-US" altLang="ko-KR" dirty="0" err="1"/>
              <a:t>Webflux</a:t>
            </a:r>
            <a:r>
              <a:rPr lang="en-US" altLang="ko-KR" dirty="0"/>
              <a:t> </a:t>
            </a:r>
            <a:r>
              <a:rPr lang="ko-KR" altLang="en-US" dirty="0"/>
              <a:t>는 아쉽게도 아직</a:t>
            </a:r>
            <a:r>
              <a:rPr lang="en-US" altLang="ko-KR" dirty="0"/>
              <a:t>, Cache </a:t>
            </a:r>
            <a:r>
              <a:rPr lang="ko-KR" altLang="en-US" dirty="0" err="1"/>
              <a:t>어노테이션이</a:t>
            </a:r>
            <a:r>
              <a:rPr lang="ko-KR" altLang="en-US" dirty="0"/>
              <a:t> 동작하지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reactor </a:t>
            </a:r>
            <a:r>
              <a:rPr lang="ko-KR" altLang="en-US" dirty="0"/>
              <a:t>함수인 경우에는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반환결과가 값이 아니라 </a:t>
            </a:r>
            <a:r>
              <a:rPr lang="en-US" altLang="ko-KR" dirty="0"/>
              <a:t>Mono </a:t>
            </a:r>
            <a:r>
              <a:rPr lang="ko-KR" altLang="en-US" dirty="0"/>
              <a:t>나 </a:t>
            </a:r>
            <a:r>
              <a:rPr lang="en-US" altLang="ko-KR" dirty="0"/>
              <a:t>Flux </a:t>
            </a:r>
            <a:r>
              <a:rPr lang="ko-KR" altLang="en-US" dirty="0"/>
              <a:t>등의 </a:t>
            </a:r>
            <a:r>
              <a:rPr lang="en-US" altLang="ko-KR" dirty="0"/>
              <a:t>publisher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그래서</a:t>
            </a:r>
            <a:r>
              <a:rPr lang="en-US" altLang="ko-KR" dirty="0"/>
              <a:t>, cache </a:t>
            </a:r>
            <a:r>
              <a:rPr lang="ko-KR" altLang="en-US" dirty="0" err="1"/>
              <a:t>어노테이션을</a:t>
            </a:r>
            <a:r>
              <a:rPr lang="ko-KR" altLang="en-US" dirty="0"/>
              <a:t> 사용하면</a:t>
            </a:r>
            <a:r>
              <a:rPr lang="en-US" altLang="ko-KR" dirty="0"/>
              <a:t>, </a:t>
            </a:r>
            <a:r>
              <a:rPr lang="ko-KR" altLang="en-US" dirty="0"/>
              <a:t>값이 아닌 </a:t>
            </a:r>
            <a:r>
              <a:rPr lang="en-US" altLang="ko-KR" dirty="0"/>
              <a:t>Publisher </a:t>
            </a:r>
            <a:r>
              <a:rPr lang="ko-KR" altLang="en-US" dirty="0"/>
              <a:t>를 캐시하기 때문에 정상 작동하지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coroutine</a:t>
            </a:r>
            <a:r>
              <a:rPr lang="ko-KR" altLang="en-US" dirty="0"/>
              <a:t> 함수인 경우에는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컴파일 변형으로 생성되는 </a:t>
            </a:r>
            <a:r>
              <a:rPr lang="en-US" altLang="ko-KR" dirty="0"/>
              <a:t>continuation </a:t>
            </a:r>
            <a:r>
              <a:rPr lang="ko-KR" altLang="en-US" dirty="0"/>
              <a:t>파라미터와 </a:t>
            </a:r>
            <a:r>
              <a:rPr lang="en-US" altLang="ko-KR" dirty="0"/>
              <a:t>special return </a:t>
            </a:r>
            <a:r>
              <a:rPr lang="ko-KR" altLang="en-US" dirty="0"/>
              <a:t>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cache </a:t>
            </a:r>
            <a:r>
              <a:rPr lang="ko-KR" altLang="en-US" dirty="0" err="1"/>
              <a:t>어노테이션</a:t>
            </a:r>
            <a:r>
              <a:rPr lang="ko-KR" altLang="en-US" dirty="0"/>
              <a:t> 처리방식과 맞지 않아서</a:t>
            </a:r>
            <a:r>
              <a:rPr lang="en-US" altLang="ko-KR" dirty="0"/>
              <a:t>, </a:t>
            </a:r>
            <a:r>
              <a:rPr lang="ko-KR" altLang="en-US" dirty="0"/>
              <a:t>마찬가지로 정상 작동하지 않습니다</a:t>
            </a:r>
            <a:r>
              <a:rPr lang="en-US" altLang="ko-KR" dirty="0"/>
              <a:t>.</a:t>
            </a:r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그래서 </a:t>
            </a:r>
            <a:r>
              <a:rPr lang="en-US" altLang="ko-KR" dirty="0"/>
              <a:t>Cache </a:t>
            </a:r>
            <a:r>
              <a:rPr lang="ko-KR" altLang="en-US" dirty="0"/>
              <a:t>기능은</a:t>
            </a:r>
            <a:r>
              <a:rPr lang="en-US" altLang="ko-KR" dirty="0"/>
              <a:t>, </a:t>
            </a:r>
            <a:r>
              <a:rPr lang="ko-KR" altLang="en-US" dirty="0"/>
              <a:t>아직은 </a:t>
            </a:r>
            <a:r>
              <a:rPr lang="en-US" altLang="ko-KR" dirty="0"/>
              <a:t>Redis </a:t>
            </a:r>
            <a:r>
              <a:rPr lang="ko-KR" altLang="en-US" dirty="0"/>
              <a:t>를 이용해 </a:t>
            </a:r>
            <a:r>
              <a:rPr lang="ko-KR" altLang="en-US"/>
              <a:t>직접 처리하는 해야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911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앞서 학습한 </a:t>
            </a:r>
            <a:r>
              <a:rPr lang="en-US" altLang="ko-KR" dirty="0" err="1"/>
              <a:t>opsForValue</a:t>
            </a:r>
            <a:r>
              <a:rPr lang="en-US" altLang="ko-KR" dirty="0"/>
              <a:t> </a:t>
            </a:r>
            <a:r>
              <a:rPr lang="ko-KR" altLang="en-US" dirty="0"/>
              <a:t>를 이용해</a:t>
            </a:r>
            <a:r>
              <a:rPr lang="en-US" altLang="ko-KR" dirty="0"/>
              <a:t>, cache </a:t>
            </a:r>
            <a:r>
              <a:rPr lang="ko-KR" altLang="en-US" dirty="0"/>
              <a:t>기능을 </a:t>
            </a:r>
            <a:r>
              <a:rPr lang="en-US" altLang="ko-KR" dirty="0"/>
              <a:t>native </a:t>
            </a:r>
            <a:r>
              <a:rPr lang="ko-KR" altLang="en-US" dirty="0"/>
              <a:t>하게 구현해 보도록 하겠습니다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472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심화개발 마지막인 </a:t>
            </a:r>
            <a:r>
              <a:rPr lang="en-US" altLang="ko-KR" dirty="0"/>
              <a:t>Lock, </a:t>
            </a:r>
            <a:r>
              <a:rPr lang="ko-KR" altLang="en-US" dirty="0"/>
              <a:t>데이터 잠금에 대해 알아보겠습니다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84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트렌젝션을</a:t>
            </a:r>
            <a:r>
              <a:rPr lang="ko-KR" altLang="en-US" dirty="0"/>
              <a:t> 걸고</a:t>
            </a:r>
            <a:r>
              <a:rPr lang="en-US" altLang="ko-KR" dirty="0"/>
              <a:t>, DB</a:t>
            </a:r>
            <a:r>
              <a:rPr lang="ko-KR" altLang="en-US" dirty="0"/>
              <a:t>를 수정한 다음</a:t>
            </a:r>
            <a:r>
              <a:rPr lang="en-US" altLang="ko-KR" dirty="0"/>
              <a:t>, </a:t>
            </a:r>
            <a:r>
              <a:rPr lang="ko-KR" altLang="en-US" dirty="0"/>
              <a:t>오류가 발생하면 롤백</a:t>
            </a:r>
            <a:r>
              <a:rPr lang="en-US" altLang="ko-KR" dirty="0"/>
              <a:t>, </a:t>
            </a:r>
            <a:r>
              <a:rPr lang="ko-KR" altLang="en-US" dirty="0"/>
              <a:t>성공이면 </a:t>
            </a:r>
            <a:r>
              <a:rPr lang="ko-KR" altLang="en-US" dirty="0" err="1"/>
              <a:t>커밋으로</a:t>
            </a:r>
            <a:r>
              <a:rPr lang="ko-KR" altLang="en-US" dirty="0"/>
              <a:t> 최종 결과를 반영합니다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이렇게 처리하면</a:t>
            </a:r>
            <a:r>
              <a:rPr lang="en-US" altLang="ko-KR" dirty="0"/>
              <a:t>, </a:t>
            </a:r>
            <a:r>
              <a:rPr lang="ko-KR" altLang="en-US" dirty="0"/>
              <a:t>서버가 죽는 극한의 상황에서도</a:t>
            </a:r>
            <a:r>
              <a:rPr lang="en-US" altLang="ko-KR" dirty="0"/>
              <a:t>, </a:t>
            </a:r>
            <a:r>
              <a:rPr lang="ko-KR" altLang="en-US" dirty="0"/>
              <a:t>데이터 정합성이 잘 보장됩니다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논리의 정합성까지 보장해 줄 수 있을까요 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여러 사용자가 동시에 계좌에 접근해서 잔액을 수정하는 작업을 가정해 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&lt;&lt;</a:t>
            </a:r>
            <a:r>
              <a:rPr lang="ko-KR" altLang="en-US" dirty="0"/>
              <a:t>설명</a:t>
            </a:r>
            <a:r>
              <a:rPr lang="en-US" altLang="ko-KR" dirty="0"/>
              <a:t>&gt;&gt;</a:t>
            </a:r>
          </a:p>
          <a:p>
            <a:endParaRPr lang="en-US" altLang="ko-KR" dirty="0"/>
          </a:p>
          <a:p>
            <a:r>
              <a:rPr lang="ko-KR" altLang="en-US" dirty="0"/>
              <a:t>스타트 </a:t>
            </a:r>
            <a:r>
              <a:rPr lang="ko-KR" altLang="en-US" dirty="0" err="1"/>
              <a:t>트렌젝션은</a:t>
            </a:r>
            <a:r>
              <a:rPr lang="en-US" altLang="ko-KR" dirty="0"/>
              <a:t>,</a:t>
            </a:r>
            <a:r>
              <a:rPr lang="ko-KR" altLang="en-US" dirty="0"/>
              <a:t> 나중에 </a:t>
            </a:r>
            <a:r>
              <a:rPr lang="en-US" altLang="ko-KR" dirty="0"/>
              <a:t>commit </a:t>
            </a:r>
            <a:r>
              <a:rPr lang="ko-KR" altLang="en-US" dirty="0"/>
              <a:t>이나 </a:t>
            </a:r>
            <a:r>
              <a:rPr lang="en-US" altLang="ko-KR" dirty="0"/>
              <a:t>rollback </a:t>
            </a:r>
            <a:r>
              <a:rPr lang="ko-KR" altLang="en-US" dirty="0"/>
              <a:t>을 하기 위해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DB </a:t>
            </a:r>
            <a:r>
              <a:rPr lang="ko-KR" altLang="en-US" dirty="0"/>
              <a:t>커넥션을 커넥션 풀에 반환하지 않고 </a:t>
            </a:r>
            <a:r>
              <a:rPr lang="ko-KR" altLang="en-US" dirty="0" err="1"/>
              <a:t>트렌젝션</a:t>
            </a:r>
            <a:r>
              <a:rPr lang="ko-KR" altLang="en-US" dirty="0"/>
              <a:t> 종료할 때 까지 들고 있겠다는 말입니다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어플리케이션 레벨에서 일어나는 작업일 뿐이고요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</a:t>
            </a:r>
            <a:r>
              <a:rPr lang="en-US" altLang="ko-KR" dirty="0"/>
              <a:t>, </a:t>
            </a:r>
            <a:r>
              <a:rPr lang="ko-KR" altLang="en-US" dirty="0" err="1"/>
              <a:t>트렌젝션을</a:t>
            </a:r>
            <a:r>
              <a:rPr lang="ko-KR" altLang="en-US" dirty="0"/>
              <a:t> 시작한다고 해서 데이터가 고정되는 것은 아닙니다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읽어온 데이터에서 잔액을 </a:t>
            </a:r>
            <a:r>
              <a:rPr lang="ko-KR" altLang="en-US" dirty="0" err="1"/>
              <a:t>빼주고</a:t>
            </a:r>
            <a:r>
              <a:rPr lang="ko-KR" altLang="en-US" dirty="0"/>
              <a:t> 이를 저장하는 대신</a:t>
            </a:r>
            <a:r>
              <a:rPr lang="en-US" altLang="ko-KR" dirty="0"/>
              <a:t>, </a:t>
            </a:r>
            <a:r>
              <a:rPr lang="ko-KR" altLang="en-US" dirty="0"/>
              <a:t>쿼리 문장으로 해결하는 방법도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…</a:t>
            </a:r>
          </a:p>
          <a:p>
            <a:endParaRPr lang="en-US" altLang="ko-KR" dirty="0"/>
          </a:p>
          <a:p>
            <a:r>
              <a:rPr lang="ko-KR" altLang="en-US" dirty="0"/>
              <a:t>하지만 이런 처리는 쿼리에 모든 로직을 녹여야 합니다</a:t>
            </a:r>
            <a:r>
              <a:rPr lang="en-US" altLang="ko-KR" dirty="0"/>
              <a:t>. </a:t>
            </a:r>
            <a:r>
              <a:rPr lang="ko-KR" altLang="en-US" dirty="0"/>
              <a:t>만약 중간에 다른 서비스를 호출하거나 복잡한 이자계산 등이 들어간다면</a:t>
            </a:r>
            <a:r>
              <a:rPr lang="en-US" altLang="ko-KR" dirty="0"/>
              <a:t>, </a:t>
            </a:r>
            <a:r>
              <a:rPr lang="ko-KR" altLang="en-US" dirty="0"/>
              <a:t>처리가 어려워 집니다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714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논리 정합성을 확보하기 위해서는</a:t>
            </a:r>
            <a:r>
              <a:rPr lang="en-US" altLang="ko-KR" dirty="0"/>
              <a:t>, </a:t>
            </a:r>
            <a:r>
              <a:rPr lang="ko-KR" altLang="en-US" dirty="0"/>
              <a:t>기록하려는 데이터에 잠금을 걸어야 하는데요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가장 손쉬운 방법인 </a:t>
            </a:r>
            <a:r>
              <a:rPr lang="en-US" altLang="ko-KR" dirty="0"/>
              <a:t>Optimistic Lock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537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데이터를 잠그는 또 다른 방법인 </a:t>
            </a:r>
            <a:r>
              <a:rPr lang="en-US" altLang="ko-KR" dirty="0"/>
              <a:t>Pessimistic Lock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725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마지막으로</a:t>
            </a:r>
            <a:r>
              <a:rPr lang="en-US" altLang="ko-KR" dirty="0"/>
              <a:t>, </a:t>
            </a:r>
            <a:r>
              <a:rPr lang="ko-KR" altLang="en-US" dirty="0"/>
              <a:t>요즘 각광받는 </a:t>
            </a:r>
            <a:r>
              <a:rPr lang="en-US" altLang="ko-KR" dirty="0"/>
              <a:t>Distributed Lock </a:t>
            </a:r>
            <a:r>
              <a:rPr lang="ko-KR" altLang="en-US" dirty="0"/>
              <a:t>말씀드리겠습니다</a:t>
            </a:r>
            <a:r>
              <a:rPr lang="en-US" altLang="ko-KR" dirty="0"/>
              <a:t>.</a:t>
            </a:r>
            <a:endParaRPr lang="ko-KR" altLang="en-US" dirty="0"/>
          </a:p>
          <a:p>
            <a:br>
              <a:rPr lang="en-US" altLang="ko-KR" dirty="0"/>
            </a:br>
            <a:r>
              <a:rPr lang="en-US" altLang="ko-KR" dirty="0"/>
              <a:t>Distributed Lock </a:t>
            </a:r>
            <a:r>
              <a:rPr lang="ko-KR" altLang="en-US" dirty="0"/>
              <a:t>은 다른 말로 </a:t>
            </a:r>
            <a:r>
              <a:rPr lang="en-US" altLang="ko-KR" dirty="0"/>
              <a:t>Application Lock </a:t>
            </a:r>
            <a:r>
              <a:rPr lang="ko-KR" altLang="en-US" dirty="0"/>
              <a:t>이라고도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&lt;&lt;</a:t>
            </a:r>
            <a:r>
              <a:rPr lang="ko-KR" altLang="en-US" dirty="0"/>
              <a:t>설명</a:t>
            </a:r>
            <a:r>
              <a:rPr lang="en-US" altLang="ko-KR" dirty="0"/>
              <a:t>&gt;&gt;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857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Distributed Lock</a:t>
            </a:r>
            <a:r>
              <a:rPr lang="ko-KR" altLang="en-US" dirty="0"/>
              <a:t>을 코드로 구현해 보겠습니다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이상으로 </a:t>
            </a:r>
            <a:r>
              <a:rPr lang="en-US" altLang="ko-KR" dirty="0"/>
              <a:t>Distributed Lock </a:t>
            </a:r>
            <a:r>
              <a:rPr lang="ko-KR" altLang="en-US" dirty="0"/>
              <a:t>실습 완료하였습니다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</a:t>
            </a:r>
            <a:r>
              <a:rPr lang="en-US" altLang="ko-KR" dirty="0"/>
              <a:t>Ch6 </a:t>
            </a:r>
            <a:r>
              <a:rPr lang="ko-KR" altLang="en-US" dirty="0"/>
              <a:t>실무형 심화개발도 마무리 되었습니다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드디어 실무에서 사용 가능한</a:t>
            </a:r>
            <a:r>
              <a:rPr lang="en-US" altLang="ko-KR" dirty="0"/>
              <a:t>, </a:t>
            </a: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웹플럭스</a:t>
            </a:r>
            <a:r>
              <a:rPr lang="ko-KR" altLang="en-US" dirty="0"/>
              <a:t> 기반의 비동기 서버 개발환경이 나왔습니다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 챕터에서는</a:t>
            </a:r>
            <a:r>
              <a:rPr lang="en-US" altLang="ko-KR" dirty="0"/>
              <a:t>, </a:t>
            </a:r>
            <a:r>
              <a:rPr lang="ko-KR" altLang="en-US" dirty="0"/>
              <a:t>드디어 결제 서비스를 만들어 볼 수 있을 것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긴 시간 </a:t>
            </a:r>
            <a:r>
              <a:rPr lang="ko-KR" altLang="en-US" dirty="0" err="1"/>
              <a:t>들어주셔서</a:t>
            </a:r>
            <a:r>
              <a:rPr lang="ko-KR" altLang="en-US" dirty="0"/>
              <a:t> 감사합니다</a:t>
            </a:r>
            <a:r>
              <a:rPr lang="en-US" altLang="ko-KR" dirty="0"/>
              <a:t>. </a:t>
            </a:r>
            <a:r>
              <a:rPr lang="ko-KR" altLang="en-US" dirty="0"/>
              <a:t>고생 많으셨습니다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43B46-72FF-4656-838A-691B9EB329E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04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24" y="394276"/>
            <a:ext cx="8490731" cy="43338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kumimoji="1" lang="en-US" sz="2000" b="1" i="0" spc="-30" baseline="0" dirty="0"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lvl="0" indent="0" defTabSz="914400" latinLnBrk="0">
              <a:lnSpc>
                <a:spcPct val="100000"/>
              </a:lnSpc>
              <a:spcBef>
                <a:spcPts val="1000"/>
              </a:spcBef>
              <a:buFontTx/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24" y="936070"/>
            <a:ext cx="8490730" cy="3871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20000"/>
              </a:lnSpc>
              <a:defRPr lang="ko-KR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lnSpc>
                <a:spcPct val="120000"/>
              </a:lnSpc>
              <a:defRPr lang="ko-KR" alt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lnSpc>
                <a:spcPct val="120000"/>
              </a:lnSpc>
              <a:defRPr lang="ko-KR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lnSpc>
                <a:spcPct val="120000"/>
              </a:lnSpc>
              <a:defRPr lang="ko-KR" altLang="en-US" sz="1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lnSpc>
                <a:spcPct val="120000"/>
              </a:lnSpc>
              <a:def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marL="0" lvl="0" indent="0">
              <a:spcAft>
                <a:spcPts val="800"/>
              </a:spcAft>
              <a:buNone/>
            </a:pPr>
            <a:r>
              <a:rPr lang="ko-KR" altLang="en-US" dirty="0"/>
              <a:t>마스터 텍스트 스타일을 편집하려면 클릭</a:t>
            </a:r>
          </a:p>
          <a:p>
            <a:pPr marL="357188" lvl="1">
              <a:spcAft>
                <a:spcPts val="800"/>
              </a:spcAft>
            </a:pPr>
            <a:r>
              <a:rPr lang="ko-KR" altLang="en-US" dirty="0"/>
              <a:t>두 번째 수준</a:t>
            </a:r>
          </a:p>
          <a:p>
            <a:pPr marL="536575" lvl="2">
              <a:spcAft>
                <a:spcPts val="800"/>
              </a:spcAft>
            </a:pPr>
            <a:r>
              <a:rPr lang="ko-KR" altLang="en-US" dirty="0"/>
              <a:t>세 번째 수준</a:t>
            </a:r>
          </a:p>
          <a:p>
            <a:pPr marL="714375" lvl="3">
              <a:spcAft>
                <a:spcPts val="800"/>
              </a:spcAft>
            </a:pPr>
            <a:r>
              <a:rPr lang="ko-KR" altLang="en-US" dirty="0"/>
              <a:t>네 번째 수준</a:t>
            </a:r>
          </a:p>
          <a:p>
            <a:pPr marL="900113" lvl="4">
              <a:spcAft>
                <a:spcPts val="800"/>
              </a:spcAft>
            </a:pPr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C45D0CE0-CFD2-F3A6-FD6B-202119C25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67474" y="109941"/>
            <a:ext cx="2440780" cy="21551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Gilroy SemiBold" panose="00000700000000000000" pitchFamily="50" charset="0"/>
              </a:defRPr>
            </a:lvl1pPr>
          </a:lstStyle>
          <a:p>
            <a:r>
              <a:rPr lang="ko-KR" altLang="en-US"/>
              <a:t>실무형 심화개발</a:t>
            </a:r>
            <a:endParaRPr lang="ko-KR" altLang="en-US" dirty="0"/>
          </a:p>
        </p:txBody>
      </p:sp>
      <p:cxnSp>
        <p:nvCxnSpPr>
          <p:cNvPr id="7" name="직선 연결선[R] 19">
            <a:extLst>
              <a:ext uri="{FF2B5EF4-FFF2-40B4-BE49-F238E27FC236}">
                <a16:creationId xmlns:a16="http://schemas.microsoft.com/office/drawing/2014/main" id="{F499D1A4-2358-07AC-4578-8B6C7D8F24C7}"/>
              </a:ext>
            </a:extLst>
          </p:cNvPr>
          <p:cNvCxnSpPr>
            <a:cxnSpLocks/>
          </p:cNvCxnSpPr>
          <p:nvPr userDrawn="1"/>
        </p:nvCxnSpPr>
        <p:spPr>
          <a:xfrm>
            <a:off x="142875" y="336268"/>
            <a:ext cx="8819347" cy="0"/>
          </a:xfrm>
          <a:prstGeom prst="line">
            <a:avLst/>
          </a:prstGeom>
          <a:ln>
            <a:solidFill>
              <a:srgbClr val="B3B3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6A02154-560B-E5A2-FCA3-2079CC3482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1451" y="4903762"/>
            <a:ext cx="757234" cy="232514"/>
          </a:xfrm>
          <a:prstGeom prst="rect">
            <a:avLst/>
          </a:prstGeom>
        </p:spPr>
      </p:pic>
      <p:cxnSp>
        <p:nvCxnSpPr>
          <p:cNvPr id="10" name="직선 연결선[R] 19">
            <a:extLst>
              <a:ext uri="{FF2B5EF4-FFF2-40B4-BE49-F238E27FC236}">
                <a16:creationId xmlns:a16="http://schemas.microsoft.com/office/drawing/2014/main" id="{7C81B446-6183-D0DC-6407-1EE2F639A632}"/>
              </a:ext>
            </a:extLst>
          </p:cNvPr>
          <p:cNvCxnSpPr>
            <a:cxnSpLocks/>
          </p:cNvCxnSpPr>
          <p:nvPr userDrawn="1"/>
        </p:nvCxnSpPr>
        <p:spPr>
          <a:xfrm>
            <a:off x="162326" y="4876057"/>
            <a:ext cx="8819347" cy="0"/>
          </a:xfrm>
          <a:prstGeom prst="line">
            <a:avLst/>
          </a:prstGeom>
          <a:ln>
            <a:solidFill>
              <a:srgbClr val="B3B3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B75347-98CF-2D30-79D6-42DD8776DC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67475" y="347086"/>
            <a:ext cx="2440780" cy="223092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lang="ko-KR" altLang="en-US" sz="700" i="1" dirty="0" smtClean="0">
                <a:solidFill>
                  <a:schemeClr val="bg1">
                    <a:lumMod val="50000"/>
                  </a:schemeClr>
                </a:solidFill>
                <a:latin typeface="Gilroy SemiBold" panose="00000700000000000000" pitchFamily="50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lnSpc>
                <a:spcPct val="120000"/>
              </a:lnSpc>
              <a:defRPr lang="ko-KR" altLang="en-US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lnSpc>
                <a:spcPct val="120000"/>
              </a:lnSpc>
              <a:defRPr lang="ko-KR" altLang="en-US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lnSpc>
                <a:spcPct val="120000"/>
              </a:lnSpc>
              <a:defRPr lang="ko-KR" altLang="en-US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lnSpc>
                <a:spcPct val="120000"/>
              </a:lnSpc>
              <a:def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marL="171450" lvl="0" indent="-171450">
              <a:spcAft>
                <a:spcPts val="800"/>
              </a:spcAft>
            </a:pPr>
            <a:r>
              <a:rPr lang="en-US" altLang="ko-KR" dirty="0" err="1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264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9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토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5DB7A8-F6F0-23A6-D9D1-6D1BFD021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365" y="1334347"/>
            <a:ext cx="7724891" cy="629841"/>
          </a:xfrm>
          <a:prstGeom prst="rect">
            <a:avLst/>
          </a:prstGeom>
        </p:spPr>
        <p:txBody>
          <a:bodyPr anchor="ctr" anchorCtr="0"/>
          <a:lstStyle>
            <a:lvl1pPr algn="ctr">
              <a:defRPr sz="2800">
                <a:solidFill>
                  <a:srgbClr val="BD0326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C97D1B6-E48E-BC0C-5E60-3091C25FB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108" y="1965502"/>
            <a:ext cx="7724890" cy="357214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spAutoFit/>
          </a:bodyPr>
          <a:lstStyle>
            <a:lvl1pPr algn="l">
              <a:defRPr lang="en-US" sz="1300" dirty="0">
                <a:solidFill>
                  <a:srgbClr val="FC4E6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defRPr>
            </a:lvl1pPr>
          </a:lstStyle>
          <a:p>
            <a:pPr lvl="0" algn="r">
              <a:spcBef>
                <a:spcPct val="0"/>
              </a:spcBef>
              <a:buNone/>
            </a:pPr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cxnSp>
        <p:nvCxnSpPr>
          <p:cNvPr id="6" name="직선 연결선[R] 19">
            <a:extLst>
              <a:ext uri="{FF2B5EF4-FFF2-40B4-BE49-F238E27FC236}">
                <a16:creationId xmlns:a16="http://schemas.microsoft.com/office/drawing/2014/main" id="{35E66E0E-3208-8254-FCEB-6FCB9F4F53A6}"/>
              </a:ext>
            </a:extLst>
          </p:cNvPr>
          <p:cNvCxnSpPr>
            <a:cxnSpLocks/>
          </p:cNvCxnSpPr>
          <p:nvPr userDrawn="1"/>
        </p:nvCxnSpPr>
        <p:spPr>
          <a:xfrm>
            <a:off x="142875" y="423352"/>
            <a:ext cx="8819347" cy="0"/>
          </a:xfrm>
          <a:prstGeom prst="line">
            <a:avLst/>
          </a:prstGeom>
          <a:ln>
            <a:solidFill>
              <a:srgbClr val="B3B3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[R] 19">
            <a:extLst>
              <a:ext uri="{FF2B5EF4-FFF2-40B4-BE49-F238E27FC236}">
                <a16:creationId xmlns:a16="http://schemas.microsoft.com/office/drawing/2014/main" id="{FB45A898-A93E-DB88-C39E-4124D8502530}"/>
              </a:ext>
            </a:extLst>
          </p:cNvPr>
          <p:cNvCxnSpPr>
            <a:cxnSpLocks/>
          </p:cNvCxnSpPr>
          <p:nvPr userDrawn="1"/>
        </p:nvCxnSpPr>
        <p:spPr>
          <a:xfrm>
            <a:off x="162326" y="4774459"/>
            <a:ext cx="8819347" cy="0"/>
          </a:xfrm>
          <a:prstGeom prst="line">
            <a:avLst/>
          </a:prstGeom>
          <a:ln>
            <a:solidFill>
              <a:srgbClr val="B3B3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6164E4B6-DC7C-02D4-5370-C9D9B9E50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9217" y="4774459"/>
            <a:ext cx="1205565" cy="370178"/>
          </a:xfrm>
          <a:prstGeom prst="rect">
            <a:avLst/>
          </a:prstGeom>
        </p:spPr>
      </p:pic>
      <p:sp>
        <p:nvSpPr>
          <p:cNvPr id="9" name="텍스트 개체 틀 52">
            <a:extLst>
              <a:ext uri="{FF2B5EF4-FFF2-40B4-BE49-F238E27FC236}">
                <a16:creationId xmlns:a16="http://schemas.microsoft.com/office/drawing/2014/main" id="{2756E176-AED9-C6E3-03D3-D9B449B264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44" y="108472"/>
            <a:ext cx="5335912" cy="26056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buFontTx/>
              <a:buNone/>
              <a:defRPr kumimoji="1" lang="ko-KR" altLang="en-US" sz="1100" b="1" kern="1200" dirty="0" smtClean="0">
                <a:solidFill>
                  <a:srgbClr val="FB2752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1pPr>
            <a:lvl2pPr marL="0" indent="0" algn="l" defTabSz="914400" rtl="0" eaLnBrk="1" latinLnBrk="0" hangingPunct="1">
              <a:buFontTx/>
              <a:buNone/>
              <a:defRPr kumimoji="1" lang="ko-KR" altLang="en-US" sz="1100" b="1" kern="1200" dirty="0" smtClean="0">
                <a:solidFill>
                  <a:schemeClr val="tx1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2pPr>
            <a:lvl3pPr marL="0" indent="0" algn="l" defTabSz="914400" rtl="0" eaLnBrk="1" latinLnBrk="0" hangingPunct="1">
              <a:buFontTx/>
              <a:buNone/>
              <a:defRPr kumimoji="1" lang="ko-KR" altLang="en-US" sz="1100" b="1" kern="1200" dirty="0" smtClean="0">
                <a:solidFill>
                  <a:schemeClr val="tx1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3pPr>
            <a:lvl4pPr marL="0" indent="0" algn="l" defTabSz="914400" rtl="0" eaLnBrk="1" latinLnBrk="0" hangingPunct="1">
              <a:buFontTx/>
              <a:buNone/>
              <a:defRPr kumimoji="1" lang="ko-KR" altLang="en-US" sz="1100" b="1" kern="1200" dirty="0" smtClean="0">
                <a:solidFill>
                  <a:schemeClr val="tx1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4pPr>
            <a:lvl5pPr marL="0" indent="0" algn="l" defTabSz="914400" rtl="0" eaLnBrk="1" latinLnBrk="0" hangingPunct="1">
              <a:buFontTx/>
              <a:buNone/>
              <a:defRPr kumimoji="1" lang="ko-Kore-KR" altLang="en-US" sz="1100" b="1" kern="1200" dirty="0">
                <a:solidFill>
                  <a:schemeClr val="tx1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5pPr>
          </a:lstStyle>
          <a:p>
            <a:r>
              <a:rPr kumimoji="1" lang="en-US" altLang="ko-Kore-KR" sz="1100" b="1" dirty="0"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PART</a:t>
            </a:r>
            <a:endParaRPr kumimoji="1" lang="ko-Kore-KR" altLang="en-US" sz="1100" b="1" dirty="0">
              <a:latin typeface="Gilroy SemiBold" pitchFamily="2" charset="0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2293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서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4366" y="1334347"/>
            <a:ext cx="7703120" cy="629841"/>
          </a:xfrm>
          <a:prstGeom prst="rect">
            <a:avLst/>
          </a:prstGeom>
        </p:spPr>
        <p:txBody>
          <a:bodyPr anchor="ctr" anchorCtr="1"/>
          <a:lstStyle>
            <a:lvl1pPr algn="ctr"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366" y="1965502"/>
            <a:ext cx="7703120" cy="357214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spAutoFit/>
          </a:bodyPr>
          <a:lstStyle>
            <a:lvl1pPr algn="r">
              <a:def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defRPr>
            </a:lvl1pPr>
          </a:lstStyle>
          <a:p>
            <a:pPr lvl="0" algn="r">
              <a:spcBef>
                <a:spcPct val="0"/>
              </a:spcBef>
              <a:buNone/>
            </a:pPr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cxnSp>
        <p:nvCxnSpPr>
          <p:cNvPr id="4" name="직선 연결선[R] 19">
            <a:extLst>
              <a:ext uri="{FF2B5EF4-FFF2-40B4-BE49-F238E27FC236}">
                <a16:creationId xmlns:a16="http://schemas.microsoft.com/office/drawing/2014/main" id="{85AC3ABC-27F1-19F1-9674-0777BF0C6BCC}"/>
              </a:ext>
            </a:extLst>
          </p:cNvPr>
          <p:cNvCxnSpPr>
            <a:cxnSpLocks/>
          </p:cNvCxnSpPr>
          <p:nvPr userDrawn="1"/>
        </p:nvCxnSpPr>
        <p:spPr>
          <a:xfrm>
            <a:off x="142875" y="423352"/>
            <a:ext cx="8819347" cy="0"/>
          </a:xfrm>
          <a:prstGeom prst="line">
            <a:avLst/>
          </a:prstGeom>
          <a:ln>
            <a:solidFill>
              <a:srgbClr val="B3B3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[R] 19">
            <a:extLst>
              <a:ext uri="{FF2B5EF4-FFF2-40B4-BE49-F238E27FC236}">
                <a16:creationId xmlns:a16="http://schemas.microsoft.com/office/drawing/2014/main" id="{8BC07E48-AB77-F79B-6F7C-A67E8C9F5BC6}"/>
              </a:ext>
            </a:extLst>
          </p:cNvPr>
          <p:cNvCxnSpPr>
            <a:cxnSpLocks/>
          </p:cNvCxnSpPr>
          <p:nvPr userDrawn="1"/>
        </p:nvCxnSpPr>
        <p:spPr>
          <a:xfrm>
            <a:off x="162326" y="4774459"/>
            <a:ext cx="8819347" cy="0"/>
          </a:xfrm>
          <a:prstGeom prst="line">
            <a:avLst/>
          </a:prstGeom>
          <a:ln>
            <a:solidFill>
              <a:srgbClr val="B3B3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1071FF2-711C-9AC0-979E-627D186D8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9217" y="4774459"/>
            <a:ext cx="1205565" cy="370178"/>
          </a:xfrm>
          <a:prstGeom prst="rect">
            <a:avLst/>
          </a:prstGeom>
        </p:spPr>
      </p:pic>
      <p:sp>
        <p:nvSpPr>
          <p:cNvPr id="9" name="텍스트 개체 틀 52">
            <a:extLst>
              <a:ext uri="{FF2B5EF4-FFF2-40B4-BE49-F238E27FC236}">
                <a16:creationId xmlns:a16="http://schemas.microsoft.com/office/drawing/2014/main" id="{37DA8257-444C-E0A5-7F79-6D33BD1538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44" y="108472"/>
            <a:ext cx="5335912" cy="26056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buFontTx/>
              <a:buNone/>
              <a:defRPr kumimoji="1" lang="ko-KR" altLang="en-US" sz="1100" b="1" kern="1200" dirty="0" smtClean="0">
                <a:solidFill>
                  <a:schemeClr val="tx1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1pPr>
            <a:lvl2pPr marL="0" indent="0" algn="l" defTabSz="914400" rtl="0" eaLnBrk="1" latinLnBrk="0" hangingPunct="1">
              <a:buFontTx/>
              <a:buNone/>
              <a:defRPr kumimoji="1" lang="ko-KR" altLang="en-US" sz="1100" b="1" kern="1200" dirty="0" smtClean="0">
                <a:solidFill>
                  <a:schemeClr val="tx1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2pPr>
            <a:lvl3pPr marL="0" indent="0" algn="l" defTabSz="914400" rtl="0" eaLnBrk="1" latinLnBrk="0" hangingPunct="1">
              <a:buFontTx/>
              <a:buNone/>
              <a:defRPr kumimoji="1" lang="ko-KR" altLang="en-US" sz="1100" b="1" kern="1200" dirty="0" smtClean="0">
                <a:solidFill>
                  <a:schemeClr val="tx1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3pPr>
            <a:lvl4pPr marL="0" indent="0" algn="l" defTabSz="914400" rtl="0" eaLnBrk="1" latinLnBrk="0" hangingPunct="1">
              <a:buFontTx/>
              <a:buNone/>
              <a:defRPr kumimoji="1" lang="ko-KR" altLang="en-US" sz="1100" b="1" kern="1200" dirty="0" smtClean="0">
                <a:solidFill>
                  <a:schemeClr val="tx1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4pPr>
            <a:lvl5pPr marL="0" indent="0" algn="l" defTabSz="914400" rtl="0" eaLnBrk="1" latinLnBrk="0" hangingPunct="1">
              <a:buFontTx/>
              <a:buNone/>
              <a:defRPr kumimoji="1" lang="ko-Kore-KR" altLang="en-US" sz="1100" b="1" kern="1200" dirty="0">
                <a:solidFill>
                  <a:schemeClr val="tx1"/>
                </a:solidFill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defRPr>
            </a:lvl5pPr>
          </a:lstStyle>
          <a:p>
            <a:r>
              <a:rPr kumimoji="1" lang="en-US" altLang="ko-Kore-KR" sz="1100" b="1" dirty="0">
                <a:latin typeface="Gilroy SemiBold" pitchFamily="2" charset="0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CLIP</a:t>
            </a:r>
            <a:endParaRPr kumimoji="1" lang="ko-Kore-KR" altLang="en-US" sz="1100" b="1" dirty="0">
              <a:latin typeface="Gilroy SemiBold" pitchFamily="2" charset="0"/>
              <a:ea typeface="Pretendard ExtraBold" panose="02000503000000020004" pitchFamily="2" charset="-127"/>
              <a:cs typeface="Pretendard Extra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506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55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sldNum="0" hd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lang="ko-KR" altLang="en-US" sz="800" kern="1200" smtClean="0">
          <a:solidFill>
            <a:schemeClr val="tx1">
              <a:tint val="82000"/>
            </a:schemeClr>
          </a:solidFill>
          <a:latin typeface="Gilroy SemiBold" panose="00000700000000000000" pitchFamily="50" charset="0"/>
          <a:ea typeface="+mn-ea"/>
          <a:cs typeface="+mn-cs"/>
        </a:defRPr>
      </a:lvl1pPr>
    </p:titleStyle>
    <p:bodyStyle>
      <a:lvl1pPr marL="171450" indent="-171450" algn="l" defTabSz="685800" rtl="0" eaLnBrk="1" latinLnBrk="1" hangingPunct="1">
        <a:lnSpc>
          <a:spcPct val="150000"/>
        </a:lnSpc>
        <a:spcBef>
          <a:spcPts val="750"/>
        </a:spcBef>
        <a:buFont typeface="Arial" panose="020B0604020202020204" pitchFamily="34" charset="0"/>
        <a:buChar char="•"/>
        <a:defRPr lang="ko-KR" altLang="en-US" sz="2100" kern="1200" dirty="0" smtClean="0">
          <a:solidFill>
            <a:schemeClr val="tx1"/>
          </a:solidFill>
          <a:latin typeface="Spoqa Han Sans Neo Medium" pitchFamily="2" charset="-127"/>
          <a:ea typeface="Spoqa Han Sans Neo Medium" pitchFamily="2" charset="-127"/>
          <a:cs typeface="+mn-cs"/>
        </a:defRPr>
      </a:lvl1pPr>
      <a:lvl2pPr marL="514350" indent="-171450" algn="l" defTabSz="685800" rtl="0" eaLnBrk="1" latinLnBrk="1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lang="ko-KR" altLang="en-US" sz="1800" kern="1200" dirty="0" smtClean="0">
          <a:solidFill>
            <a:schemeClr val="tx1"/>
          </a:solidFill>
          <a:latin typeface="Spoqa Han Sans Neo Medium" pitchFamily="2" charset="-127"/>
          <a:ea typeface="Spoqa Han Sans Neo Medium" pitchFamily="2" charset="-127"/>
          <a:cs typeface="+mn-cs"/>
        </a:defRPr>
      </a:lvl2pPr>
      <a:lvl3pPr marL="857250" indent="-171450" algn="l" defTabSz="685800" rtl="0" eaLnBrk="1" latinLnBrk="1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lang="ko-KR" altLang="en-US" sz="1500" kern="1200" dirty="0" smtClean="0">
          <a:solidFill>
            <a:schemeClr val="tx1"/>
          </a:solidFill>
          <a:latin typeface="Spoqa Han Sans Neo Medium" pitchFamily="2" charset="-127"/>
          <a:ea typeface="Spoqa Han Sans Neo Medium" pitchFamily="2" charset="-127"/>
          <a:cs typeface="+mn-cs"/>
        </a:defRPr>
      </a:lvl3pPr>
      <a:lvl4pPr marL="1200150" indent="-171450" algn="l" defTabSz="685800" rtl="0" eaLnBrk="1" latinLnBrk="1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lang="ko-KR" altLang="en-US" sz="1350" kern="1200" dirty="0" smtClean="0">
          <a:solidFill>
            <a:schemeClr val="tx1"/>
          </a:solidFill>
          <a:latin typeface="Spoqa Han Sans Neo Medium" pitchFamily="2" charset="-127"/>
          <a:ea typeface="Spoqa Han Sans Neo Medium" pitchFamily="2" charset="-127"/>
          <a:cs typeface="+mn-cs"/>
        </a:defRPr>
      </a:lvl4pPr>
      <a:lvl5pPr marL="1543050" indent="-171450" algn="l" defTabSz="685800" rtl="0" eaLnBrk="1" latinLnBrk="1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lang="en-US" altLang="en-US" sz="1350" kern="1200" dirty="0">
          <a:solidFill>
            <a:schemeClr val="tx1"/>
          </a:solidFill>
          <a:latin typeface="Spoqa Han Sans Neo Medium" pitchFamily="2" charset="-127"/>
          <a:ea typeface="Spoqa Han Sans Neo Medium" pitchFamily="2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661F016-9358-EED0-CAF5-2E94C069C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96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6B29B-A1AE-E0C6-8543-753E63140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실무형 심화개발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7219E4B9-47F6-C7CA-B046-1256225C3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ko-KR" dirty="0"/>
              <a:t>1. Trace ID logging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D4F324-1B52-36BC-302B-BC29D1FEE4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1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DDC04C9-30B7-E09B-C770-06D6DCE2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UUID</a:t>
            </a:r>
            <a:endParaRPr lang="ko-KR" alt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D0E1818-6C4A-FCDA-99D6-FEFDB277D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UUID (U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niversal</a:t>
            </a:r>
            <a:r>
              <a:rPr lang="en-US" altLang="ko-KR" dirty="0"/>
              <a:t> U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nique</a:t>
            </a:r>
            <a:r>
              <a:rPr lang="en-US" altLang="ko-KR" dirty="0"/>
              <a:t> </a:t>
            </a:r>
            <a:r>
              <a:rPr lang="en-US" altLang="ko-KR" dirty="0" err="1"/>
              <a:t>ID</a:t>
            </a:r>
            <a:r>
              <a:rPr lang="en-US" altLang="ko-KR" dirty="0" err="1">
                <a:solidFill>
                  <a:schemeClr val="bg1">
                    <a:lumMod val="75000"/>
                  </a:schemeClr>
                </a:solidFill>
              </a:rPr>
              <a:t>entifier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v4</a:t>
            </a:r>
          </a:p>
          <a:p>
            <a:pPr lvl="2"/>
            <a:endParaRPr lang="en-US" altLang="ko-KR" dirty="0"/>
          </a:p>
          <a:p>
            <a:pPr marL="342900" lvl="1" indent="0">
              <a:buNone/>
            </a:pPr>
            <a:r>
              <a:rPr lang="en-US" altLang="ko-KR" sz="2800" dirty="0">
                <a:solidFill>
                  <a:schemeClr val="accent1"/>
                </a:solidFill>
              </a:rPr>
              <a:t>58b5dbdb</a:t>
            </a:r>
            <a:r>
              <a:rPr lang="en-US" altLang="ko-KR" sz="2800" dirty="0"/>
              <a:t>-</a:t>
            </a:r>
            <a:r>
              <a:rPr lang="en-US" altLang="ko-KR" sz="2800" dirty="0">
                <a:solidFill>
                  <a:srgbClr val="DA2ADE"/>
                </a:solidFill>
              </a:rPr>
              <a:t>71c4</a:t>
            </a:r>
            <a:r>
              <a:rPr lang="en-US" altLang="ko-KR" sz="2800" dirty="0"/>
              <a:t>-</a:t>
            </a:r>
            <a:r>
              <a:rPr lang="en-US" altLang="ko-KR" sz="2800" dirty="0">
                <a:solidFill>
                  <a:schemeClr val="accent6">
                    <a:lumMod val="75000"/>
                  </a:schemeClr>
                </a:solidFill>
              </a:rPr>
              <a:t>4874</a:t>
            </a:r>
            <a:r>
              <a:rPr lang="en-US" altLang="ko-KR" sz="2800" dirty="0"/>
              <a:t>-</a:t>
            </a:r>
            <a:r>
              <a:rPr lang="en-US" altLang="ko-KR" sz="2800" dirty="0">
                <a:solidFill>
                  <a:srgbClr val="C00000"/>
                </a:solidFill>
              </a:rPr>
              <a:t>9412</a:t>
            </a:r>
            <a:r>
              <a:rPr lang="en-US" altLang="ko-KR" sz="2800" dirty="0"/>
              <a:t>-</a:t>
            </a:r>
            <a:r>
              <a:rPr lang="en-US" altLang="ko-KR" sz="2800" dirty="0">
                <a:solidFill>
                  <a:srgbClr val="7030A0"/>
                </a:solidFill>
              </a:rPr>
              <a:t>ac47ca0ecb7c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A57318-5632-7387-85A8-558FF33A7BE5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ko-KR" dirty="0"/>
              <a:t>1. Trace ID logging</a:t>
            </a:r>
            <a:endParaRPr lang="ko-KR" altLang="en-US" dirty="0"/>
          </a:p>
        </p:txBody>
      </p:sp>
      <p:sp>
        <p:nvSpPr>
          <p:cNvPr id="6" name="Google Shape;209;p30">
            <a:extLst>
              <a:ext uri="{FF2B5EF4-FFF2-40B4-BE49-F238E27FC236}">
                <a16:creationId xmlns:a16="http://schemas.microsoft.com/office/drawing/2014/main" id="{BEF45BA4-E8C5-733F-55F2-CDF231C4EBFB}"/>
              </a:ext>
            </a:extLst>
          </p:cNvPr>
          <p:cNvSpPr/>
          <p:nvPr/>
        </p:nvSpPr>
        <p:spPr>
          <a:xfrm>
            <a:off x="7811013" y="528014"/>
            <a:ext cx="952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635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ko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 dirty="0">
              <a:solidFill>
                <a:schemeClr val="bg1"/>
              </a:solidFill>
            </a:endParaRPr>
          </a:p>
        </p:txBody>
      </p:sp>
      <p:sp>
        <p:nvSpPr>
          <p:cNvPr id="7" name="Google Shape;210;p30">
            <a:extLst>
              <a:ext uri="{FF2B5EF4-FFF2-40B4-BE49-F238E27FC236}">
                <a16:creationId xmlns:a16="http://schemas.microsoft.com/office/drawing/2014/main" id="{DA62B929-65C8-9F20-D312-E70F2759AF7B}"/>
              </a:ext>
            </a:extLst>
          </p:cNvPr>
          <p:cNvSpPr/>
          <p:nvPr/>
        </p:nvSpPr>
        <p:spPr>
          <a:xfrm>
            <a:off x="7811013" y="825047"/>
            <a:ext cx="9525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63500" marR="0" lvl="1" indent="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800" dirty="0">
                <a:solidFill>
                  <a:schemeClr val="bg1"/>
                </a:solidFill>
              </a:rPr>
              <a:t>Trace ID Logging</a:t>
            </a:r>
            <a:endParaRPr sz="800" dirty="0">
              <a:solidFill>
                <a:schemeClr val="bg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A539DF-E00D-4812-C043-154505F5F3A8}"/>
              </a:ext>
            </a:extLst>
          </p:cNvPr>
          <p:cNvSpPr/>
          <p:nvPr/>
        </p:nvSpPr>
        <p:spPr>
          <a:xfrm>
            <a:off x="4831369" y="1995488"/>
            <a:ext cx="228601" cy="5898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79F2C64-5BAE-B21B-5983-C6C93B7242A7}"/>
              </a:ext>
            </a:extLst>
          </p:cNvPr>
          <p:cNvSpPr/>
          <p:nvPr/>
        </p:nvSpPr>
        <p:spPr>
          <a:xfrm>
            <a:off x="3820255" y="1995488"/>
            <a:ext cx="228601" cy="5898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771DFA-FEFE-941B-1FD5-FB822A3278E4}"/>
              </a:ext>
            </a:extLst>
          </p:cNvPr>
          <p:cNvSpPr txBox="1"/>
          <p:nvPr/>
        </p:nvSpPr>
        <p:spPr>
          <a:xfrm>
            <a:off x="4651845" y="2814446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Spoqa Han Sans Neo Medium" pitchFamily="2" charset="-127"/>
                <a:ea typeface="Spoqa Han Sans Neo Medium" pitchFamily="2" charset="-127"/>
              </a:rPr>
              <a:t>항상 </a:t>
            </a:r>
            <a:r>
              <a:rPr lang="en-US" altLang="ko-KR" dirty="0">
                <a:latin typeface="Spoqa Han Sans Neo Medium" pitchFamily="2" charset="-127"/>
                <a:ea typeface="Spoqa Han Sans Neo Medium" pitchFamily="2" charset="-127"/>
              </a:rPr>
              <a:t>4</a:t>
            </a:r>
            <a:endParaRPr lang="ko-KR" altLang="en-US" dirty="0">
              <a:latin typeface="Spoqa Han Sans Neo Medium" pitchFamily="2" charset="-127"/>
              <a:ea typeface="Spoqa Han Sans Neo Medium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BCEED8-CB94-A547-6AFC-FEE013876B5A}"/>
              </a:ext>
            </a:extLst>
          </p:cNvPr>
          <p:cNvSpPr txBox="1"/>
          <p:nvPr/>
        </p:nvSpPr>
        <p:spPr>
          <a:xfrm>
            <a:off x="2722341" y="2814446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Spoqa Han Sans Neo Medium" pitchFamily="2" charset="-127"/>
                <a:ea typeface="Spoqa Han Sans Neo Medium" pitchFamily="2" charset="-127"/>
              </a:rPr>
              <a:t>8,9,a,b </a:t>
            </a:r>
            <a:r>
              <a:rPr lang="ko-KR" altLang="en-US" dirty="0">
                <a:latin typeface="Spoqa Han Sans Neo Medium" pitchFamily="2" charset="-127"/>
                <a:ea typeface="Spoqa Han Sans Neo Medium" pitchFamily="2" charset="-127"/>
              </a:rPr>
              <a:t>중 하나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31FD51-D2CF-3681-953A-0CF5EFD5F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실무형 심화개발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32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6C3C0E-F24F-9763-AC2A-545FB7F38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구현 실습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CAF74D28-A379-C9BB-D8F9-E3B6A7427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altLang="ko-KR" dirty="0"/>
              <a:t>Trace ID logging </a:t>
            </a:r>
            <a:r>
              <a:rPr lang="ko-KR" altLang="en-US" dirty="0"/>
              <a:t>구현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7A5EFCE-88AD-A8AE-9B7F-E85DC4DFD7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263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6B29B-A1AE-E0C6-8543-753E63140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실무형 심화개발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7219E4B9-47F6-C7CA-B046-1256225C3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ko" b="1" dirty="0">
                <a:solidFill>
                  <a:srgbClr val="ED234B"/>
                </a:solidFill>
              </a:rPr>
              <a:t>2</a:t>
            </a:r>
            <a:r>
              <a:rPr lang="ko" altLang="ko-KR" b="1" dirty="0">
                <a:solidFill>
                  <a:srgbClr val="ED234B"/>
                </a:solidFill>
              </a:rPr>
              <a:t> </a:t>
            </a:r>
            <a:r>
              <a:rPr lang="en-US" altLang="ko-KR" dirty="0"/>
              <a:t>Error handling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A5FD37-61AB-DE2A-CA2B-AB821AE625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1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6C3C0E-F24F-9763-AC2A-545FB7F38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구현 실습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CAF74D28-A379-C9BB-D8F9-E3B6A7427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altLang="ko-KR" dirty="0"/>
              <a:t>Error Handler </a:t>
            </a:r>
            <a:r>
              <a:rPr lang="ko-KR" altLang="en-US" dirty="0"/>
              <a:t>구현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06FC4B5-F7C2-A9B8-8F91-225556F7B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940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6B29B-A1AE-E0C6-8543-753E63140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실무형 심화개발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7219E4B9-47F6-C7CA-B046-1256225C3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ko" b="1" dirty="0">
                <a:solidFill>
                  <a:srgbClr val="ED234B"/>
                </a:solidFill>
              </a:rPr>
              <a:t>3</a:t>
            </a:r>
            <a:r>
              <a:rPr lang="ko" altLang="ko-KR" b="1" dirty="0">
                <a:solidFill>
                  <a:srgbClr val="ED234B"/>
                </a:solidFill>
              </a:rPr>
              <a:t> </a:t>
            </a:r>
            <a:r>
              <a:rPr lang="en-US" altLang="ko-KR" dirty="0"/>
              <a:t>Request payload logging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8A548F-C7A9-9795-F803-4AC1ED121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03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6C3C0E-F24F-9763-AC2A-545FB7F38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구현 실습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CAF74D28-A379-C9BB-D8F9-E3B6A7427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altLang="ko-KR" dirty="0"/>
              <a:t>Request</a:t>
            </a:r>
            <a:r>
              <a:rPr lang="ko-KR" altLang="en-US" dirty="0"/>
              <a:t> </a:t>
            </a:r>
            <a:r>
              <a:rPr lang="en-US" altLang="ko-KR" dirty="0"/>
              <a:t>parameter logging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1133A34-4CB5-9B5F-8BA2-7C571DC51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282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6B29B-A1AE-E0C6-8543-753E63140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실무형 심화개발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7219E4B9-47F6-C7CA-B046-1256225C3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ko" b="1" dirty="0">
                <a:solidFill>
                  <a:srgbClr val="ED234B"/>
                </a:solidFill>
              </a:rPr>
              <a:t>4</a:t>
            </a:r>
            <a:r>
              <a:rPr lang="ko" altLang="ko-KR" b="1" dirty="0">
                <a:solidFill>
                  <a:srgbClr val="ED234B"/>
                </a:solidFill>
              </a:rPr>
              <a:t> </a:t>
            </a:r>
            <a:r>
              <a:rPr lang="en-US" altLang="ko-KR" dirty="0"/>
              <a:t>Circuit breaker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E3DB0D-C7AA-65DB-3EAB-473A6D177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57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6C3C0E-F24F-9763-AC2A-545FB7F38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구현 실습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CAF74D28-A379-C9BB-D8F9-E3B6A7427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altLang="ko-KR" dirty="0"/>
              <a:t>Circuit Breaker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25DCD00-F40B-7E40-E3B4-8B2C7BD450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39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6B29B-A1AE-E0C6-8543-753E63140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실무형 심화개발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7219E4B9-47F6-C7CA-B046-1256225C3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ko" b="1" dirty="0">
                <a:solidFill>
                  <a:srgbClr val="ED234B"/>
                </a:solidFill>
              </a:rPr>
              <a:t>5</a:t>
            </a:r>
            <a:r>
              <a:rPr lang="ko" altLang="ko-KR" b="1" dirty="0">
                <a:solidFill>
                  <a:srgbClr val="ED234B"/>
                </a:solidFill>
              </a:rPr>
              <a:t> </a:t>
            </a:r>
            <a:r>
              <a:rPr lang="en-US" altLang="ko-KR" dirty="0"/>
              <a:t>Redis </a:t>
            </a:r>
            <a:r>
              <a:rPr lang="ko-KR" altLang="en-US" dirty="0"/>
              <a:t>연동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EEAB5D-D579-BF71-6D6D-FDFF00024C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9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6C3C0E-F24F-9763-AC2A-545FB7F38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구현 실습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CAF74D28-A379-C9BB-D8F9-E3B6A7427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altLang="ko-KR" dirty="0"/>
              <a:t>Redis </a:t>
            </a:r>
            <a:r>
              <a:rPr lang="ko-KR" altLang="en-US" dirty="0"/>
              <a:t>설치 및 </a:t>
            </a:r>
            <a:r>
              <a:rPr lang="en-US" altLang="ko-KR" dirty="0"/>
              <a:t>Reactive </a:t>
            </a:r>
            <a:r>
              <a:rPr lang="en-US" altLang="ko-KR" dirty="0" err="1"/>
              <a:t>redis</a:t>
            </a:r>
            <a:r>
              <a:rPr lang="en-US" altLang="ko-KR" dirty="0"/>
              <a:t> </a:t>
            </a:r>
            <a:r>
              <a:rPr lang="ko-KR" altLang="en-US" dirty="0"/>
              <a:t>연동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4066DB-63C6-9C8D-92F0-F561BCF18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402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6C3C0E-F24F-9763-AC2A-545FB7F38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구현 실습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CAF74D28-A379-C9BB-D8F9-E3B6A7427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altLang="ko-KR" dirty="0"/>
              <a:t>Redis </a:t>
            </a:r>
            <a:r>
              <a:rPr lang="ko-KR" altLang="en-US" dirty="0"/>
              <a:t>연산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AA66682-C25D-ED81-A88B-D99F2C2661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941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6B29B-A1AE-E0C6-8543-753E63140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실무형 심화개발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7219E4B9-47F6-C7CA-B046-1256225C3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ko" b="1" dirty="0">
                <a:solidFill>
                  <a:srgbClr val="ED234B"/>
                </a:solidFill>
              </a:rPr>
              <a:t>6</a:t>
            </a:r>
            <a:r>
              <a:rPr lang="ko" altLang="ko-KR" b="1" dirty="0">
                <a:solidFill>
                  <a:srgbClr val="ED234B"/>
                </a:solidFill>
              </a:rPr>
              <a:t> </a:t>
            </a:r>
            <a:r>
              <a:rPr lang="en-US" altLang="ko-KR" dirty="0"/>
              <a:t>Cache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D40369-0F9F-B396-481E-D1257462B8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315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6C3C0E-F24F-9763-AC2A-545FB7F38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구현 실습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CAF74D28-A379-C9BB-D8F9-E3B6A7427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altLang="ko-KR" dirty="0" err="1"/>
              <a:t>ReactiveRedisTemplate</a:t>
            </a:r>
            <a:r>
              <a:rPr lang="ko-KR" altLang="en-US" dirty="0"/>
              <a:t>을 이용한 </a:t>
            </a:r>
            <a:r>
              <a:rPr lang="en-US" altLang="ko-KR" dirty="0"/>
              <a:t>cache </a:t>
            </a:r>
            <a:r>
              <a:rPr lang="ko-KR" altLang="en-US" dirty="0"/>
              <a:t>구현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5F2E531-84A4-1A9B-E72C-C5B1C6F7D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954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6B29B-A1AE-E0C6-8543-753E63140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실무형 심화개발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7219E4B9-47F6-C7CA-B046-1256225C3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ko" b="1" dirty="0">
                <a:solidFill>
                  <a:srgbClr val="ED234B"/>
                </a:solidFill>
              </a:rPr>
              <a:t>7</a:t>
            </a:r>
            <a:r>
              <a:rPr lang="ko" altLang="ko-KR" b="1" dirty="0">
                <a:solidFill>
                  <a:srgbClr val="ED234B"/>
                </a:solidFill>
              </a:rPr>
              <a:t> </a:t>
            </a:r>
            <a:r>
              <a:rPr lang="en-US" altLang="ko-KR" dirty="0"/>
              <a:t>Lock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AE7290-B272-5306-776F-C7A4E7420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577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C1AA9-5E52-3A11-B3B3-447787E2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경합 시나리오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654BE3F-3708-134A-4E8C-1B5BA846894D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ko-KR" dirty="0"/>
              <a:t>7. Lock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73AE5-1D19-8E3E-7FD6-FCAB6D63D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91" y="925015"/>
            <a:ext cx="4648678" cy="395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5F77F-CC71-E8BB-F53C-662B8AFA1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실무형 심화개발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4592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E7A4B4F-FF3E-EE90-2EAB-3CE9E1293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91" y="925017"/>
            <a:ext cx="4648678" cy="395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21C1AA9-5E52-3A11-B3B3-447787E2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Optimistic Lock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44AA07FE-E723-81DB-397B-4D089928F1C1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ko-KR" dirty="0"/>
              <a:t>7. Lock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CA7BF-0E72-CD95-AB60-50CFD7F9BECF}"/>
              </a:ext>
            </a:extLst>
          </p:cNvPr>
          <p:cNvSpPr txBox="1"/>
          <p:nvPr/>
        </p:nvSpPr>
        <p:spPr>
          <a:xfrm>
            <a:off x="1925516" y="2096942"/>
            <a:ext cx="899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accent3">
                    <a:lumMod val="75000"/>
                  </a:schemeClr>
                </a:solidFill>
              </a:rPr>
              <a:t>get </a:t>
            </a:r>
            <a:r>
              <a:rPr lang="en-US" altLang="ko-KR" sz="1200" b="1" dirty="0">
                <a:solidFill>
                  <a:srgbClr val="FF0000"/>
                </a:solidFill>
              </a:rPr>
              <a:t>Version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BE86F-9321-416F-D733-0AF6FCEF107F}"/>
              </a:ext>
            </a:extLst>
          </p:cNvPr>
          <p:cNvSpPr txBox="1"/>
          <p:nvPr/>
        </p:nvSpPr>
        <p:spPr>
          <a:xfrm>
            <a:off x="3776813" y="2373941"/>
            <a:ext cx="899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accent3">
                    <a:lumMod val="75000"/>
                  </a:schemeClr>
                </a:solidFill>
              </a:rPr>
              <a:t>get </a:t>
            </a:r>
            <a:r>
              <a:rPr lang="en-US" altLang="ko-KR" sz="1200" b="1" dirty="0">
                <a:solidFill>
                  <a:srgbClr val="FF0000"/>
                </a:solidFill>
              </a:rPr>
              <a:t>Version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0B692-CCDA-3EAF-CA04-C6265188A3A1}"/>
              </a:ext>
            </a:extLst>
          </p:cNvPr>
          <p:cNvSpPr txBox="1"/>
          <p:nvPr/>
        </p:nvSpPr>
        <p:spPr>
          <a:xfrm>
            <a:off x="3793065" y="4030497"/>
            <a:ext cx="8209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accent3">
                    <a:lumMod val="75000"/>
                  </a:schemeClr>
                </a:solidFill>
              </a:rPr>
              <a:t>in </a:t>
            </a:r>
            <a:r>
              <a:rPr lang="en-US" altLang="ko-KR" sz="1200" b="1" dirty="0">
                <a:solidFill>
                  <a:srgbClr val="FF0000"/>
                </a:solidFill>
              </a:rPr>
              <a:t>Version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229D1-C3B4-5639-B536-EC8BD07D413C}"/>
              </a:ext>
            </a:extLst>
          </p:cNvPr>
          <p:cNvSpPr txBox="1"/>
          <p:nvPr/>
        </p:nvSpPr>
        <p:spPr>
          <a:xfrm>
            <a:off x="1963616" y="2899974"/>
            <a:ext cx="8209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accent3">
                    <a:lumMod val="75000"/>
                  </a:schemeClr>
                </a:solidFill>
              </a:rPr>
              <a:t>in </a:t>
            </a:r>
            <a:r>
              <a:rPr lang="en-US" altLang="ko-KR" sz="1200" b="1" dirty="0">
                <a:solidFill>
                  <a:srgbClr val="FF0000"/>
                </a:solidFill>
              </a:rPr>
              <a:t>Version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489076DD-8684-5256-BFCB-2102BA7FC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실무형 심화개발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67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456057-0498-1927-4D20-E87DCDC39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91" y="925018"/>
            <a:ext cx="4648678" cy="395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21C1AA9-5E52-3A11-B3B3-447787E2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Pessimistic Lock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9CDF4CBB-DA83-4297-79C0-2BD4D908842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ko-KR" dirty="0"/>
              <a:t>7. Lock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3A91F-C967-3A21-7D83-E9FA0E6AFA6A}"/>
              </a:ext>
            </a:extLst>
          </p:cNvPr>
          <p:cNvSpPr txBox="1"/>
          <p:nvPr/>
        </p:nvSpPr>
        <p:spPr>
          <a:xfrm>
            <a:off x="1925516" y="2096943"/>
            <a:ext cx="98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Locking Row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BEDA9-CCA9-1AC5-52C5-D5482936432A}"/>
              </a:ext>
            </a:extLst>
          </p:cNvPr>
          <p:cNvSpPr txBox="1"/>
          <p:nvPr/>
        </p:nvSpPr>
        <p:spPr>
          <a:xfrm>
            <a:off x="3739662" y="2373942"/>
            <a:ext cx="98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Locking Row</a:t>
            </a:r>
            <a:endParaRPr lang="ko-KR" altLang="en-US" sz="12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09F3E-D1AA-B7D9-18A1-AB1936C81157}"/>
              </a:ext>
            </a:extLst>
          </p:cNvPr>
          <p:cNvSpPr txBox="1"/>
          <p:nvPr/>
        </p:nvSpPr>
        <p:spPr>
          <a:xfrm>
            <a:off x="3742612" y="3721881"/>
            <a:ext cx="98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Locking Row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B7A8CFF-2207-BEE6-9489-2D4F5B444932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232041" y="2650941"/>
            <a:ext cx="2950" cy="107094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7168D80A-C665-42FA-E462-98A3F07BF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실무형 심화개발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783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5CB259A-8F0A-AB26-D84A-8281ED8FD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91" y="916224"/>
            <a:ext cx="4648678" cy="395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21C1AA9-5E52-3A11-B3B3-447787E2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Distributed Lock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BC1838D-0952-4FF7-7C7D-82970BBBBC2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ko-KR" dirty="0"/>
              <a:t>7. Lock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9A92936-8624-A53D-1354-B155F3D91B46}"/>
              </a:ext>
            </a:extLst>
          </p:cNvPr>
          <p:cNvGrpSpPr/>
          <p:nvPr/>
        </p:nvGrpSpPr>
        <p:grpSpPr>
          <a:xfrm>
            <a:off x="6335737" y="951393"/>
            <a:ext cx="967154" cy="3903784"/>
            <a:chOff x="6335737" y="1206368"/>
            <a:chExt cx="967154" cy="3903784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73503748-8D0A-74E6-7F4B-4D7C029FB4CB}"/>
                </a:ext>
              </a:extLst>
            </p:cNvPr>
            <p:cNvSpPr/>
            <p:nvPr/>
          </p:nvSpPr>
          <p:spPr>
            <a:xfrm>
              <a:off x="6335737" y="1206368"/>
              <a:ext cx="967154" cy="358664"/>
            </a:xfrm>
            <a:prstGeom prst="round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C00000"/>
                  </a:solidFill>
                </a:rPr>
                <a:t>Locker</a:t>
              </a:r>
              <a:endParaRPr lang="ko-KR" altLang="en-US" sz="12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F0466F2B-224A-1884-3DBE-DF9B51A0ADAB}"/>
                </a:ext>
              </a:extLst>
            </p:cNvPr>
            <p:cNvCxnSpPr>
              <a:stCxn id="3" idx="2"/>
            </p:cNvCxnSpPr>
            <p:nvPr/>
          </p:nvCxnSpPr>
          <p:spPr>
            <a:xfrm>
              <a:off x="6819314" y="1565032"/>
              <a:ext cx="35169" cy="35451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79C68A5-D3F1-7892-5017-2C170293F9FD}"/>
              </a:ext>
            </a:extLst>
          </p:cNvPr>
          <p:cNvCxnSpPr/>
          <p:nvPr/>
        </p:nvCxnSpPr>
        <p:spPr>
          <a:xfrm>
            <a:off x="1533525" y="1926250"/>
            <a:ext cx="529809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A01150-D2C4-D85C-21B6-1A03504E5CF6}"/>
              </a:ext>
            </a:extLst>
          </p:cNvPr>
          <p:cNvSpPr txBox="1"/>
          <p:nvPr/>
        </p:nvSpPr>
        <p:spPr>
          <a:xfrm>
            <a:off x="1533525" y="1649251"/>
            <a:ext cx="11412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obtaining </a:t>
            </a:r>
            <a:r>
              <a:rPr lang="en-US" altLang="ko-KR" sz="1200" b="1" dirty="0">
                <a:solidFill>
                  <a:srgbClr val="FF0000"/>
                </a:solidFill>
              </a:rPr>
              <a:t>LOCK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96C246B-EB31-B0B5-D433-DBA90B66F887}"/>
              </a:ext>
            </a:extLst>
          </p:cNvPr>
          <p:cNvCxnSpPr>
            <a:cxnSpLocks/>
          </p:cNvCxnSpPr>
          <p:nvPr/>
        </p:nvCxnSpPr>
        <p:spPr>
          <a:xfrm>
            <a:off x="5091113" y="2173900"/>
            <a:ext cx="1740510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F3059D-3F3D-D839-FE08-35B0AA683C06}"/>
              </a:ext>
            </a:extLst>
          </p:cNvPr>
          <p:cNvSpPr txBox="1"/>
          <p:nvPr/>
        </p:nvSpPr>
        <p:spPr>
          <a:xfrm>
            <a:off x="5675036" y="2146415"/>
            <a:ext cx="11412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obtaining </a:t>
            </a:r>
            <a:r>
              <a:rPr lang="en-US" altLang="ko-KR" sz="1200" b="1" dirty="0">
                <a:solidFill>
                  <a:srgbClr val="FF0000"/>
                </a:solidFill>
              </a:rPr>
              <a:t>LOCK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4" name="바닥글 개체 틀 13">
            <a:extLst>
              <a:ext uri="{FF2B5EF4-FFF2-40B4-BE49-F238E27FC236}">
                <a16:creationId xmlns:a16="http://schemas.microsoft.com/office/drawing/2014/main" id="{C5D2F742-47EA-6399-CEB3-546AF5754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/>
              <a:t>실무형 심화개발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97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A6C3C0E-F24F-9763-AC2A-545FB7F38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구현 실습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CAF74D28-A379-C9BB-D8F9-E3B6A7427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altLang="ko-KR" dirty="0"/>
              <a:t>Distributed Lock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8CEAC1-EA64-0C03-8B0C-9BECB950A5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4339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119f844-8ac0-48e8-bbdf-d5c2ba397c72}" enabled="1" method="Privileged" siteId="{55ebc540-42a3-4026-b4cc-3928d18f84b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3499</TotalTime>
  <Words>1534</Words>
  <Application>Microsoft Office PowerPoint</Application>
  <PresentationFormat>화면 슬라이드 쇼(16:9)</PresentationFormat>
  <Paragraphs>248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Pretendard</vt:lpstr>
      <vt:lpstr>Pretendard ExtraBold</vt:lpstr>
      <vt:lpstr>Spoqa Han Sans Neo Medium</vt:lpstr>
      <vt:lpstr>맑은 고딕</vt:lpstr>
      <vt:lpstr>Arial</vt:lpstr>
      <vt:lpstr>Gilroy SemiBold</vt:lpstr>
      <vt:lpstr>1_Office 테마</vt:lpstr>
      <vt:lpstr>PowerPoint 프레젠테이션</vt:lpstr>
      <vt:lpstr>실무형 심화개발</vt:lpstr>
      <vt:lpstr>UUID</vt:lpstr>
      <vt:lpstr>구현 실습</vt:lpstr>
      <vt:lpstr>실무형 심화개발</vt:lpstr>
      <vt:lpstr>구현 실습</vt:lpstr>
      <vt:lpstr>실무형 심화개발</vt:lpstr>
      <vt:lpstr>구현 실습</vt:lpstr>
      <vt:lpstr>실무형 심화개발</vt:lpstr>
      <vt:lpstr>구현 실습</vt:lpstr>
      <vt:lpstr>실무형 심화개발</vt:lpstr>
      <vt:lpstr>구현 실습</vt:lpstr>
      <vt:lpstr>구현 실습</vt:lpstr>
      <vt:lpstr>실무형 심화개발</vt:lpstr>
      <vt:lpstr>구현 실습</vt:lpstr>
      <vt:lpstr>실무형 심화개발</vt:lpstr>
      <vt:lpstr>경합 시나리오</vt:lpstr>
      <vt:lpstr>Optimistic Lock</vt:lpstr>
      <vt:lpstr>Pessimistic Lock</vt:lpstr>
      <vt:lpstr>Distributed Lock</vt:lpstr>
      <vt:lpstr>구현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 Hwasu</dc:creator>
  <cp:lastModifiedBy>932</cp:lastModifiedBy>
  <cp:revision>583</cp:revision>
  <dcterms:created xsi:type="dcterms:W3CDTF">2023-07-11T14:27:12Z</dcterms:created>
  <dcterms:modified xsi:type="dcterms:W3CDTF">2024-10-25T17:50:04Z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19f844-8ac0-48e8-bbdf-d5c2ba397c72_Enabled">
    <vt:lpwstr>true</vt:lpwstr>
  </property>
  <property fmtid="{D5CDD505-2E9C-101B-9397-08002B2CF9AE}" pid="3" name="MSIP_Label_5119f844-8ac0-48e8-bbdf-d5c2ba397c72_SetDate">
    <vt:lpwstr>2023-09-04T09:15:19Z</vt:lpwstr>
  </property>
  <property fmtid="{D5CDD505-2E9C-101B-9397-08002B2CF9AE}" pid="4" name="MSIP_Label_5119f844-8ac0-48e8-bbdf-d5c2ba397c72_Method">
    <vt:lpwstr>Privileged</vt:lpwstr>
  </property>
  <property fmtid="{D5CDD505-2E9C-101B-9397-08002B2CF9AE}" pid="5" name="MSIP_Label_5119f844-8ac0-48e8-bbdf-d5c2ba397c72_Name">
    <vt:lpwstr>공용</vt:lpwstr>
  </property>
  <property fmtid="{D5CDD505-2E9C-101B-9397-08002B2CF9AE}" pid="6" name="MSIP_Label_5119f844-8ac0-48e8-bbdf-d5c2ba397c72_SiteId">
    <vt:lpwstr>55ebc540-42a3-4026-b4cc-3928d18f84bf</vt:lpwstr>
  </property>
  <property fmtid="{D5CDD505-2E9C-101B-9397-08002B2CF9AE}" pid="7" name="MSIP_Label_5119f844-8ac0-48e8-bbdf-d5c2ba397c72_ActionId">
    <vt:lpwstr>710fb81c-0999-4909-b4a4-0ed79e42d44f</vt:lpwstr>
  </property>
  <property fmtid="{D5CDD505-2E9C-101B-9397-08002B2CF9AE}" pid="8" name="MSIP_Label_5119f844-8ac0-48e8-bbdf-d5c2ba397c72_ContentBits">
    <vt:lpwstr>0</vt:lpwstr>
  </property>
</Properties>
</file>